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8"/>
  </p:notesMasterIdLst>
  <p:sldIdLst>
    <p:sldId id="256" r:id="rId2"/>
    <p:sldId id="257" r:id="rId3"/>
    <p:sldId id="258" r:id="rId4"/>
    <p:sldId id="259" r:id="rId5"/>
    <p:sldId id="260" r:id="rId6"/>
    <p:sldId id="261" r:id="rId7"/>
    <p:sldId id="263" r:id="rId8"/>
    <p:sldId id="265" r:id="rId9"/>
    <p:sldId id="266" r:id="rId10"/>
    <p:sldId id="267"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57" autoAdjust="0"/>
  </p:normalViewPr>
  <p:slideViewPr>
    <p:cSldViewPr snapToGrid="0">
      <p:cViewPr varScale="1">
        <p:scale>
          <a:sx n="62" d="100"/>
          <a:sy n="62" d="100"/>
        </p:scale>
        <p:origin x="118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2026-02-05</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2026-02-05</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2026-02-05</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2026-02-05</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2026-02-05</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2026-02-05</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2026-02-05</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2026-02-05</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2026-02-05</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2026-02-05</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2026-02-05</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2026-02-05</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2026-02-05</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07A574-40FF-4F7D-BF76-17BC3211ECA4}"/>
              </a:ext>
            </a:extLst>
          </p:cNvPr>
          <p:cNvSpPr>
            <a:spLocks noGrp="1"/>
          </p:cNvSpPr>
          <p:nvPr>
            <p:ph type="title"/>
          </p:nvPr>
        </p:nvSpPr>
        <p:spPr/>
        <p:txBody>
          <a:bodyPr/>
          <a:lstStyle/>
          <a:p>
            <a:r>
              <a:rPr lang="fr-CA" dirty="0"/>
              <a:t>Les variables aléatoires continues usuelles</a:t>
            </a:r>
          </a:p>
        </p:txBody>
      </p:sp>
      <p:sp>
        <p:nvSpPr>
          <p:cNvPr id="3" name="Espace réservé du pied de page 2">
            <a:extLst>
              <a:ext uri="{FF2B5EF4-FFF2-40B4-BE49-F238E27FC236}">
                <a16:creationId xmlns:a16="http://schemas.microsoft.com/office/drawing/2014/main" id="{43E1BD33-5882-4D80-9139-755CE433798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530A04D-BAB3-4597-AF81-EC181487B225}"/>
              </a:ext>
            </a:extLst>
          </p:cNvPr>
          <p:cNvSpPr>
            <a:spLocks noGrp="1"/>
          </p:cNvSpPr>
          <p:nvPr>
            <p:ph type="sldNum" sz="quarter" idx="12"/>
          </p:nvPr>
        </p:nvSpPr>
        <p:spPr/>
        <p:txBody>
          <a:bodyPr/>
          <a:lstStyle/>
          <a:p>
            <a:fld id="{26377AD9-CE17-438C-A638-C64D2D42D7CF}" type="slidenum">
              <a:rPr lang="fr-CA" smtClean="0"/>
              <a:t>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448396B-537D-4AA2-B8FC-F29B8A7E4EC4}"/>
                  </a:ext>
                </a:extLst>
              </p:cNvPr>
              <p:cNvSpPr txBox="1"/>
              <p:nvPr/>
            </p:nvSpPr>
            <p:spPr>
              <a:xfrm>
                <a:off x="942703" y="1690688"/>
                <a:ext cx="10515600" cy="4839915"/>
              </a:xfrm>
              <a:prstGeom prst="rect">
                <a:avLst/>
              </a:prstGeom>
              <a:noFill/>
            </p:spPr>
            <p:txBody>
              <a:bodyPr wrap="square" rtlCol="0">
                <a:spAutoFit/>
              </a:bodyPr>
              <a:lstStyle/>
              <a:p>
                <a:r>
                  <a:rPr lang="fr-CA" dirty="0"/>
                  <a:t>I- La loi uniforme : </a:t>
                </a:r>
                <a:r>
                  <a:rPr lang="fr-CA" sz="1800" dirty="0">
                    <a:effectLst/>
                    <a:latin typeface="Calibri" panose="020F0502020204030204" pitchFamily="34" charset="0"/>
                    <a:ea typeface="Calibri" panose="020F0502020204030204" pitchFamily="34" charset="0"/>
                    <a:cs typeface="Times New Roman" panose="02020603050405020304" pitchFamily="18" charset="0"/>
                  </a:rPr>
                  <a:t>La loi (ou variable) uniforme continue est la loi continue la plus simple. Elle permet de gérer les phénomènes aléatoires continus qui se produisent dans un intervalle fini et dont tous les résultats possibles ont les mêmes chances de se produire. On appelle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loi</a:t>
                </a: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(ou variable)</a:t>
                </a: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continue uniforme</a:t>
                </a:r>
                <a:r>
                  <a:rPr lang="fr-CA" sz="1800" dirty="0">
                    <a:effectLst/>
                    <a:latin typeface="Calibri" panose="020F0502020204030204" pitchFamily="34" charset="0"/>
                    <a:ea typeface="Calibri" panose="020F0502020204030204" pitchFamily="34" charset="0"/>
                    <a:cs typeface="Times New Roman" panose="02020603050405020304" pitchFamily="18" charset="0"/>
                  </a:rPr>
                  <a:t> sur un intervalle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a</a:t>
                </a: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b</a:t>
                </a:r>
                <a:r>
                  <a:rPr lang="fr-CA" sz="1800" dirty="0">
                    <a:effectLst/>
                    <a:latin typeface="Calibri" panose="020F0502020204030204" pitchFamily="34" charset="0"/>
                    <a:ea typeface="Calibri" panose="020F0502020204030204" pitchFamily="34" charset="0"/>
                    <a:cs typeface="Times New Roman" panose="02020603050405020304" pitchFamily="18" charset="0"/>
                  </a:rPr>
                  <a:t>] toute variable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X</a:t>
                </a:r>
                <a:r>
                  <a:rPr lang="fr-CA" sz="1800" dirty="0">
                    <a:effectLst/>
                    <a:latin typeface="Calibri" panose="020F0502020204030204" pitchFamily="34" charset="0"/>
                    <a:ea typeface="Calibri" panose="020F0502020204030204" pitchFamily="34" charset="0"/>
                    <a:cs typeface="Times New Roman" panose="02020603050405020304" pitchFamily="18" charset="0"/>
                  </a:rPr>
                  <a:t> dont la fonction densité de probabilité est constante à l’intérieur de cet intervalle.</a:t>
                </a:r>
              </a:p>
              <a:p>
                <a:r>
                  <a:rPr lang="fr-CA" sz="1800" dirty="0">
                    <a:effectLst/>
                    <a:latin typeface="Calibri" panose="020F0502020204030204" pitchFamily="34" charset="0"/>
                    <a:ea typeface="Calibri" panose="020F0502020204030204" pitchFamily="34" charset="0"/>
                    <a:cs typeface="Times New Roman" panose="02020603050405020304" pitchFamily="18" charset="0"/>
                  </a:rPr>
                  <a:t>Une telle variable est notée </a:t>
                </a:r>
                <a:r>
                  <a:rPr lang="fr-CA" sz="1800" i="1" dirty="0" err="1">
                    <a:effectLst/>
                    <a:latin typeface="Calibri" panose="020F0502020204030204" pitchFamily="34" charset="0"/>
                    <a:ea typeface="Calibri" panose="020F0502020204030204" pitchFamily="34" charset="0"/>
                    <a:cs typeface="Times New Roman" panose="02020603050405020304" pitchFamily="18" charset="0"/>
                  </a:rPr>
                  <a:t>Unif</a:t>
                </a:r>
                <a:r>
                  <a:rPr lang="fr-CA" sz="1800" dirty="0">
                    <a:effectLst/>
                    <a:latin typeface="Calibri" panose="020F0502020204030204" pitchFamily="34" charset="0"/>
                    <a:ea typeface="Calibri" panose="020F0502020204030204" pitchFamily="34" charset="0"/>
                    <a:cs typeface="Times New Roman" panose="02020603050405020304" pitchFamily="18" charset="0"/>
                  </a:rPr>
                  <a:t>([</a:t>
                </a:r>
                <a:r>
                  <a:rPr lang="fr-CA" sz="1800" i="1" dirty="0">
                    <a:effectLst/>
                    <a:latin typeface="Calibri" panose="020F0502020204030204" pitchFamily="34" charset="0"/>
                    <a:ea typeface="Calibri" panose="020F0502020204030204" pitchFamily="34" charset="0"/>
                    <a:cs typeface="Times New Roman" panose="02020603050405020304" pitchFamily="18" charset="0"/>
                  </a:rPr>
                  <a:t>a, b</a:t>
                </a:r>
                <a:r>
                  <a:rPr lang="fr-CA" sz="1800" dirty="0">
                    <a:effectLst/>
                    <a:latin typeface="Calibri" panose="020F0502020204030204" pitchFamily="34" charset="0"/>
                    <a:ea typeface="Calibri" panose="020F0502020204030204" pitchFamily="34" charset="0"/>
                    <a:cs typeface="Times New Roman" panose="02020603050405020304" pitchFamily="18" charset="0"/>
                  </a:rPr>
                  <a:t>]) ou simplement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U</a:t>
                </a:r>
                <a:r>
                  <a:rPr lang="fr-CA" sz="1800" dirty="0">
                    <a:effectLst/>
                    <a:latin typeface="Calibri" panose="020F0502020204030204" pitchFamily="34" charset="0"/>
                    <a:ea typeface="Calibri" panose="020F0502020204030204" pitchFamily="34" charset="0"/>
                    <a:cs typeface="Times New Roman" panose="02020603050405020304" pitchFamily="18" charset="0"/>
                  </a:rPr>
                  <a:t>(</a:t>
                </a:r>
                <a:r>
                  <a:rPr lang="fr-CA" sz="1800" i="1" dirty="0">
                    <a:effectLst/>
                    <a:latin typeface="Calibri" panose="020F0502020204030204" pitchFamily="34" charset="0"/>
                    <a:ea typeface="Calibri" panose="020F0502020204030204" pitchFamily="34" charset="0"/>
                    <a:cs typeface="Times New Roman" panose="02020603050405020304" pitchFamily="18" charset="0"/>
                  </a:rPr>
                  <a:t>a, b</a:t>
                </a:r>
                <a:r>
                  <a:rPr lang="fr-CA" sz="1800" dirty="0">
                    <a:effectLst/>
                    <a:latin typeface="Calibri" panose="020F0502020204030204" pitchFamily="34" charset="0"/>
                    <a:ea typeface="Calibri" panose="020F0502020204030204" pitchFamily="34" charset="0"/>
                    <a:cs typeface="Times New Roman" panose="02020603050405020304" pitchFamily="18" charset="0"/>
                  </a:rPr>
                  <a:t>). </a:t>
                </a:r>
                <a:r>
                  <a:rPr lang="fr-CA" dirty="0">
                    <a:latin typeface="Calibri" panose="020F0502020204030204" pitchFamily="34" charset="0"/>
                    <a:ea typeface="Calibri" panose="020F0502020204030204" pitchFamily="34" charset="0"/>
                    <a:cs typeface="Times New Roman" panose="02020603050405020304" pitchFamily="18" charset="0"/>
                  </a:rPr>
                  <a:t>Sa fonction densité des probabilités est:</a:t>
                </a:r>
              </a:p>
              <a:p>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fr-CA" sz="1800" i="1" smtClean="0">
                              <a:effectLst/>
                              <a:latin typeface="Cambria Math" panose="02040503050406030204" pitchFamily="18" charset="0"/>
                              <a:cs typeface="Times New Roman" panose="02020603050405020304" pitchFamily="18" charset="0"/>
                            </a:rPr>
                          </m:ctrlPr>
                        </m:sSubPr>
                        <m:e>
                          <m:r>
                            <a:rPr lang="fr-CA" sz="1800" b="0" i="1" smtClean="0">
                              <a:effectLst/>
                              <a:latin typeface="Cambria Math" panose="02040503050406030204" pitchFamily="18" charset="0"/>
                              <a:cs typeface="Times New Roman" panose="02020603050405020304" pitchFamily="18" charset="0"/>
                            </a:rPr>
                            <m:t>𝑓</m:t>
                          </m:r>
                        </m:e>
                        <m:sub>
                          <m:r>
                            <a:rPr lang="fr-CA" sz="1800" b="0" i="1" smtClean="0">
                              <a:effectLst/>
                              <a:latin typeface="Cambria Math" panose="02040503050406030204" pitchFamily="18" charset="0"/>
                              <a:cs typeface="Times New Roman" panose="02020603050405020304" pitchFamily="18" charset="0"/>
                            </a:rPr>
                            <m:t>𝑋</m:t>
                          </m:r>
                        </m:sub>
                      </m:sSub>
                      <m:d>
                        <m:dPr>
                          <m:ctrlPr>
                            <a:rPr lang="fr-CA" sz="1800" b="0" i="1" smtClean="0">
                              <a:effectLst/>
                              <a:latin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cs typeface="Times New Roman" panose="02020603050405020304" pitchFamily="18" charset="0"/>
                            </a:rPr>
                            <m:t>𝑥</m:t>
                          </m:r>
                        </m:e>
                      </m:d>
                      <m:r>
                        <a:rPr lang="fr-CA" sz="1800" b="0" i="1" smtClean="0">
                          <a:effectLst/>
                          <a:latin typeface="Cambria Math" panose="02040503050406030204" pitchFamily="18" charset="0"/>
                          <a:cs typeface="Times New Roman" panose="02020603050405020304" pitchFamily="18" charset="0"/>
                        </a:rPr>
                        <m:t>=</m:t>
                      </m:r>
                      <m:d>
                        <m:dPr>
                          <m:begChr m:val="{"/>
                          <m:endChr m:val=""/>
                          <m:ctrlPr>
                            <a:rPr lang="fr-CA" sz="1800" b="0" i="1" smtClean="0">
                              <a:effectLst/>
                              <a:latin typeface="Cambria Math" panose="02040503050406030204" pitchFamily="18" charset="0"/>
                              <a:cs typeface="Times New Roman" panose="02020603050405020304" pitchFamily="18" charset="0"/>
                            </a:rPr>
                          </m:ctrlPr>
                        </m:dPr>
                        <m:e>
                          <m:eqArr>
                            <m:eqArrPr>
                              <m:ctrlPr>
                                <a:rPr lang="fr-CA" sz="1800" b="0" i="1" smtClean="0">
                                  <a:effectLst/>
                                  <a:latin typeface="Cambria Math" panose="02040503050406030204" pitchFamily="18" charset="0"/>
                                  <a:cs typeface="Times New Roman" panose="02020603050405020304" pitchFamily="18" charset="0"/>
                                </a:rPr>
                              </m:ctrlPr>
                            </m:eqArrPr>
                            <m:e>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1</m:t>
                                  </m:r>
                                </m:num>
                                <m:den>
                                  <m:r>
                                    <a:rPr lang="fr-CA" sz="1800" b="0" i="1" smtClean="0">
                                      <a:effectLst/>
                                      <a:latin typeface="Cambria Math" panose="02040503050406030204" pitchFamily="18" charset="0"/>
                                      <a:cs typeface="Times New Roman" panose="02020603050405020304" pitchFamily="18" charset="0"/>
                                    </a:rPr>
                                    <m:t>𝑏</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𝑎</m:t>
                                  </m:r>
                                </m:den>
                              </m:f>
                              <m:r>
                                <a:rPr lang="fr-CA" sz="1800" b="0" i="1" smtClean="0">
                                  <a:effectLst/>
                                  <a:latin typeface="Cambria Math" panose="02040503050406030204" pitchFamily="18" charset="0"/>
                                  <a:cs typeface="Times New Roman" panose="02020603050405020304" pitchFamily="18" charset="0"/>
                                </a:rPr>
                                <m:t>     </m:t>
                              </m:r>
                              <m:r>
                                <a:rPr lang="fr-CA" sz="1800" b="0" i="1" smtClean="0">
                                  <a:effectLst/>
                                  <a:latin typeface="Cambria Math" panose="02040503050406030204" pitchFamily="18" charset="0"/>
                                  <a:cs typeface="Times New Roman" panose="02020603050405020304" pitchFamily="18" charset="0"/>
                                </a:rPr>
                                <m:t>𝑠𝑖</m:t>
                              </m:r>
                              <m:r>
                                <a:rPr lang="fr-CA" sz="1800" b="0" i="1" smtClean="0">
                                  <a:effectLst/>
                                  <a:latin typeface="Cambria Math" panose="02040503050406030204" pitchFamily="18" charset="0"/>
                                  <a:cs typeface="Times New Roman" panose="02020603050405020304" pitchFamily="18" charset="0"/>
                                </a:rPr>
                                <m:t>    </m:t>
                              </m:r>
                              <m:r>
                                <a:rPr lang="fr-CA" sz="1800" b="0" i="1" smtClean="0">
                                  <a:effectLst/>
                                  <a:latin typeface="Cambria Math" panose="02040503050406030204" pitchFamily="18" charset="0"/>
                                  <a:cs typeface="Times New Roman" panose="02020603050405020304" pitchFamily="18" charset="0"/>
                                </a:rPr>
                                <m:t>𝑎</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&lt;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𝑥</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&lt;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𝑏</m:t>
                              </m:r>
                            </m:e>
                            <m:e>
                              <m:r>
                                <a:rPr lang="fr-CA" b="0" i="1" smtClean="0">
                                  <a:latin typeface="Cambria Math" panose="02040503050406030204" pitchFamily="18" charset="0"/>
                                </a:rPr>
                                <m:t>0            </m:t>
                              </m:r>
                              <m:r>
                                <a:rPr lang="fr-CA" b="0" i="1" smtClean="0">
                                  <a:latin typeface="Cambria Math" panose="02040503050406030204" pitchFamily="18" charset="0"/>
                                </a:rPr>
                                <m:t>𝑠𝑖𝑛𝑜𝑛</m:t>
                              </m:r>
                              <m:r>
                                <a:rPr lang="fr-CA" b="0" i="1" smtClean="0">
                                  <a:latin typeface="Cambria Math" panose="02040503050406030204" pitchFamily="18" charset="0"/>
                                </a:rPr>
                                <m:t> </m:t>
                              </m:r>
                            </m:e>
                          </m:eqArr>
                        </m:e>
                      </m:d>
                    </m:oMath>
                  </m:oMathPara>
                </a14:m>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r>
                  <a:rPr lang="fr-CA" dirty="0">
                    <a:latin typeface="Calibri" panose="020F0502020204030204" pitchFamily="34" charset="0"/>
                    <a:ea typeface="Calibri" panose="020F0502020204030204" pitchFamily="34" charset="0"/>
                    <a:cs typeface="Times New Roman" panose="02020603050405020304" pitchFamily="18" charset="0"/>
                  </a:rPr>
                  <a:t>Sa fonction cumulative des probabilités est:</a:t>
                </a: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cs typeface="Times New Roman" panose="02020603050405020304" pitchFamily="18" charset="0"/>
                            </a:rPr>
                          </m:ctrlPr>
                        </m:sSubPr>
                        <m:e>
                          <m:r>
                            <a:rPr lang="fr-CA" sz="1800" b="0" i="1" smtClean="0">
                              <a:effectLst/>
                              <a:latin typeface="Cambria Math" panose="02040503050406030204" pitchFamily="18" charset="0"/>
                              <a:cs typeface="Times New Roman" panose="02020603050405020304" pitchFamily="18" charset="0"/>
                            </a:rPr>
                            <m:t>𝐹</m:t>
                          </m:r>
                        </m:e>
                        <m:sub>
                          <m:r>
                            <a:rPr lang="fr-CA" sz="1800" b="0" i="1" smtClean="0">
                              <a:effectLst/>
                              <a:latin typeface="Cambria Math" panose="02040503050406030204" pitchFamily="18" charset="0"/>
                              <a:cs typeface="Times New Roman" panose="02020603050405020304" pitchFamily="18" charset="0"/>
                            </a:rPr>
                            <m:t>𝑋</m:t>
                          </m:r>
                        </m:sub>
                      </m:sSub>
                      <m:d>
                        <m:dPr>
                          <m:ctrlPr>
                            <a:rPr lang="fr-CA" sz="1800" b="0" i="1" smtClean="0">
                              <a:effectLst/>
                              <a:latin typeface="Cambria Math" panose="02040503050406030204" pitchFamily="18" charset="0"/>
                              <a:cs typeface="Times New Roman" panose="02020603050405020304" pitchFamily="18" charset="0"/>
                            </a:rPr>
                          </m:ctrlPr>
                        </m:dPr>
                        <m:e>
                          <m:r>
                            <a:rPr lang="fr-CA" sz="1800" b="0" i="1" smtClean="0">
                              <a:effectLst/>
                              <a:latin typeface="Cambria Math" panose="02040503050406030204" pitchFamily="18" charset="0"/>
                              <a:cs typeface="Times New Roman" panose="02020603050405020304" pitchFamily="18" charset="0"/>
                            </a:rPr>
                            <m:t>𝑥</m:t>
                          </m:r>
                        </m:e>
                      </m:d>
                      <m:r>
                        <a:rPr lang="fr-CA" sz="1800" b="0" i="1" smtClean="0">
                          <a:effectLst/>
                          <a:latin typeface="Cambria Math" panose="02040503050406030204" pitchFamily="18" charset="0"/>
                          <a:cs typeface="Times New Roman" panose="02020603050405020304" pitchFamily="18" charset="0"/>
                        </a:rPr>
                        <m:t>=</m:t>
                      </m:r>
                      <m:d>
                        <m:dPr>
                          <m:begChr m:val="{"/>
                          <m:endChr m:val=""/>
                          <m:ctrlPr>
                            <a:rPr lang="fr-CA" sz="1800" b="0" i="1" smtClean="0">
                              <a:effectLst/>
                              <a:latin typeface="Cambria Math" panose="02040503050406030204" pitchFamily="18" charset="0"/>
                              <a:cs typeface="Times New Roman" panose="02020603050405020304" pitchFamily="18" charset="0"/>
                            </a:rPr>
                          </m:ctrlPr>
                        </m:dPr>
                        <m:e>
                          <m:eqArr>
                            <m:eqArrPr>
                              <m:ctrlPr>
                                <a:rPr lang="fr-CA" sz="1800" b="0" i="1" smtClean="0">
                                  <a:effectLst/>
                                  <a:latin typeface="Cambria Math" panose="02040503050406030204" pitchFamily="18" charset="0"/>
                                  <a:cs typeface="Times New Roman" panose="02020603050405020304" pitchFamily="18" charset="0"/>
                                </a:rPr>
                              </m:ctrlPr>
                            </m:eqArrPr>
                            <m:e>
                              <m:r>
                                <a:rPr lang="fr-CA" sz="1800" b="0" i="1" smtClean="0">
                                  <a:effectLst/>
                                  <a:latin typeface="Cambria Math" panose="02040503050406030204" pitchFamily="18" charset="0"/>
                                  <a:cs typeface="Times New Roman" panose="02020603050405020304" pitchFamily="18" charset="0"/>
                                </a:rPr>
                                <m:t>0    </m:t>
                              </m:r>
                              <m:r>
                                <a:rPr lang="fr-CA" sz="1800" b="0" i="1" smtClean="0">
                                  <a:effectLst/>
                                  <a:latin typeface="Cambria Math" panose="02040503050406030204" pitchFamily="18" charset="0"/>
                                  <a:cs typeface="Times New Roman" panose="02020603050405020304" pitchFamily="18" charset="0"/>
                                </a:rPr>
                                <m:t>𝑠𝑖</m:t>
                              </m:r>
                              <m:r>
                                <a:rPr lang="fr-CA" sz="1800" b="0" i="1" smtClean="0">
                                  <a:effectLst/>
                                  <a:latin typeface="Cambria Math" panose="02040503050406030204" pitchFamily="18" charset="0"/>
                                  <a:cs typeface="Times New Roman" panose="02020603050405020304" pitchFamily="18" charset="0"/>
                                </a:rPr>
                                <m:t>   </m:t>
                              </m:r>
                              <m:r>
                                <a:rPr lang="fr-CA" sz="1800" b="0" i="1" smtClean="0">
                                  <a:effectLst/>
                                  <a:latin typeface="Cambria Math" panose="02040503050406030204" pitchFamily="18" charset="0"/>
                                  <a:cs typeface="Times New Roman" panose="02020603050405020304" pitchFamily="18" charset="0"/>
                                </a:rPr>
                                <m:t>𝑥</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&lt;</m:t>
                              </m:r>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𝑎</m:t>
                              </m:r>
                            </m:e>
                            <m:e>
                              <m:f>
                                <m:fPr>
                                  <m:ctrlPr>
                                    <a:rPr lang="fr-CA" i="1" smtClean="0">
                                      <a:latin typeface="Cambria Math" panose="02040503050406030204" pitchFamily="18" charset="0"/>
                                    </a:rPr>
                                  </m:ctrlPr>
                                </m:fPr>
                                <m:num>
                                  <m:r>
                                    <a:rPr lang="fr-CA" b="0" i="1" smtClean="0">
                                      <a:latin typeface="Cambria Math" panose="02040503050406030204" pitchFamily="18" charset="0"/>
                                    </a:rPr>
                                    <m:t>𝑥</m:t>
                                  </m:r>
                                  <m:r>
                                    <a:rPr lang="fr-CA" b="0" i="1" smtClean="0">
                                      <a:latin typeface="Cambria Math" panose="02040503050406030204" pitchFamily="18" charset="0"/>
                                    </a:rPr>
                                    <m:t>−</m:t>
                                  </m:r>
                                  <m:r>
                                    <a:rPr lang="fr-CA" b="0" i="1" smtClean="0">
                                      <a:latin typeface="Cambria Math" panose="02040503050406030204" pitchFamily="18" charset="0"/>
                                    </a:rPr>
                                    <m:t>𝑎</m:t>
                                  </m:r>
                                </m:num>
                                <m:den>
                                  <m:r>
                                    <a:rPr lang="fr-CA" b="0" i="1" smtClean="0">
                                      <a:latin typeface="Cambria Math" panose="02040503050406030204" pitchFamily="18" charset="0"/>
                                    </a:rPr>
                                    <m:t>𝑏</m:t>
                                  </m:r>
                                  <m:r>
                                    <a:rPr lang="fr-CA" b="0" i="1" smtClean="0">
                                      <a:latin typeface="Cambria Math" panose="02040503050406030204" pitchFamily="18" charset="0"/>
                                    </a:rPr>
                                    <m:t>−</m:t>
                                  </m:r>
                                  <m:r>
                                    <a:rPr lang="fr-CA" b="0" i="1" smtClean="0">
                                      <a:latin typeface="Cambria Math" panose="02040503050406030204" pitchFamily="18" charset="0"/>
                                    </a:rPr>
                                    <m:t>𝑎</m:t>
                                  </m:r>
                                </m:den>
                              </m:f>
                              <m:r>
                                <a:rPr lang="fr-CA" b="0" i="1" smtClean="0">
                                  <a:latin typeface="Cambria Math" panose="02040503050406030204" pitchFamily="18" charset="0"/>
                                </a:rPr>
                                <m:t>     </m:t>
                              </m:r>
                              <m:r>
                                <a:rPr lang="fr-CA" b="0" i="1" smtClean="0">
                                  <a:latin typeface="Cambria Math" panose="02040503050406030204" pitchFamily="18" charset="0"/>
                                </a:rPr>
                                <m:t>𝑠𝑖</m:t>
                              </m:r>
                              <m:r>
                                <a:rPr lang="fr-CA" b="0" i="1" smtClean="0">
                                  <a:latin typeface="Cambria Math" panose="02040503050406030204" pitchFamily="18" charset="0"/>
                                </a:rPr>
                                <m:t>   </m:t>
                              </m:r>
                              <m:r>
                                <a:rPr lang="fr-CA" b="0" i="1" smtClean="0">
                                  <a:latin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𝑥</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𝑏</m:t>
                              </m:r>
                            </m:e>
                            <m:e>
                              <m:r>
                                <a:rPr lang="fr-CA" b="0" i="1" smtClean="0">
                                  <a:latin typeface="Cambria Math" panose="02040503050406030204" pitchFamily="18" charset="0"/>
                                </a:rPr>
                                <m:t>1       </m:t>
                              </m:r>
                              <m:r>
                                <a:rPr lang="fr-CA" b="0" i="1" smtClean="0">
                                  <a:latin typeface="Cambria Math" panose="02040503050406030204" pitchFamily="18" charset="0"/>
                                </a:rPr>
                                <m:t>𝑠𝑖</m:t>
                              </m:r>
                              <m:r>
                                <a:rPr lang="fr-CA" b="0" i="1" smtClean="0">
                                  <a:latin typeface="Cambria Math" panose="02040503050406030204" pitchFamily="18" charset="0"/>
                                </a:rPr>
                                <m:t>     </m:t>
                              </m:r>
                              <m:r>
                                <a:rPr lang="fr-CA" b="0" i="1" smtClean="0">
                                  <a:latin typeface="Cambria Math" panose="02040503050406030204" pitchFamily="18" charset="0"/>
                                </a:rPr>
                                <m:t>𝑥</m:t>
                              </m:r>
                              <m:r>
                                <a:rPr lang="fr-CA" b="0"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𝑏</m:t>
                              </m:r>
                            </m:e>
                          </m:eqArr>
                        </m:e>
                      </m:d>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cs typeface="Times New Roman" panose="02020603050405020304" pitchFamily="18" charset="0"/>
                            </a:rPr>
                          </m:ctrlPr>
                        </m:sSubPr>
                        <m:e>
                          <m:r>
                            <a:rPr lang="en-US" sz="1800" i="1" smtClean="0">
                              <a:effectLst/>
                              <a:latin typeface="Cambria Math" panose="02040503050406030204" pitchFamily="18" charset="0"/>
                              <a:ea typeface="Cambria Math" panose="02040503050406030204" pitchFamily="18" charset="0"/>
                              <a:cs typeface="Times New Roman" panose="02020603050405020304" pitchFamily="18" charset="0"/>
                            </a:rPr>
                            <m:t>𝜇</m:t>
                          </m:r>
                        </m:e>
                        <m:sub>
                          <m:r>
                            <a:rPr lang="fr-CA" sz="1800" b="0" i="1" smtClean="0">
                              <a:effectLst/>
                              <a:latin typeface="Cambria Math" panose="02040503050406030204" pitchFamily="18" charset="0"/>
                              <a:cs typeface="Times New Roman" panose="02020603050405020304" pitchFamily="18" charset="0"/>
                            </a:rPr>
                            <m:t>𝑋</m:t>
                          </m:r>
                        </m:sub>
                      </m:sSub>
                      <m:r>
                        <a:rPr lang="fr-CA" sz="1800" b="0" i="1" smtClean="0">
                          <a:effectLst/>
                          <a:latin typeface="Cambria Math" panose="02040503050406030204" pitchFamily="18"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r>
                            <a:rPr lang="fr-CA" sz="1800" b="0" i="1" smtClean="0">
                              <a:effectLst/>
                              <a:latin typeface="Cambria Math" panose="02040503050406030204" pitchFamily="18" charset="0"/>
                              <a:cs typeface="Times New Roman" panose="02020603050405020304" pitchFamily="18" charset="0"/>
                            </a:rPr>
                            <m:t>𝑎</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𝑏</m:t>
                          </m:r>
                        </m:num>
                        <m:den>
                          <m:r>
                            <a:rPr lang="fr-CA" sz="1800" b="0" i="1" smtClean="0">
                              <a:effectLst/>
                              <a:latin typeface="Cambria Math" panose="02040503050406030204" pitchFamily="18" charset="0"/>
                              <a:cs typeface="Times New Roman" panose="02020603050405020304" pitchFamily="18" charset="0"/>
                            </a:rPr>
                            <m:t>2</m:t>
                          </m:r>
                        </m:den>
                      </m:f>
                      <m:r>
                        <a:rPr lang="fr-CA" sz="1800" b="0" i="1" smtClean="0">
                          <a:effectLst/>
                          <a:latin typeface="Cambria Math" panose="02040503050406030204" pitchFamily="18" charset="0"/>
                          <a:cs typeface="Times New Roman" panose="02020603050405020304" pitchFamily="18" charset="0"/>
                        </a:rPr>
                        <m:t>         </m:t>
                      </m:r>
                      <m:r>
                        <a:rPr lang="fr-CA" sz="1800" b="0" i="1" smtClean="0">
                          <a:effectLst/>
                          <a:latin typeface="Cambria Math" panose="02040503050406030204" pitchFamily="18" charset="0"/>
                          <a:cs typeface="Times New Roman" panose="02020603050405020304" pitchFamily="18" charset="0"/>
                        </a:rPr>
                        <m:t>𝑒𝑡</m:t>
                      </m:r>
                      <m:r>
                        <a:rPr lang="fr-CA" sz="1800" b="0" i="1" smtClean="0">
                          <a:effectLst/>
                          <a:latin typeface="Cambria Math" panose="02040503050406030204" pitchFamily="18" charset="0"/>
                          <a:cs typeface="Times New Roman" panose="02020603050405020304" pitchFamily="18" charset="0"/>
                        </a:rPr>
                        <m:t>         </m:t>
                      </m:r>
                      <m:sSubSup>
                        <m:sSubSupPr>
                          <m:ctrlPr>
                            <a:rPr lang="fr-CA" sz="1800" b="0" i="1" smtClean="0">
                              <a:effectLst/>
                              <a:latin typeface="Cambria Math" panose="02040503050406030204" pitchFamily="18" charset="0"/>
                              <a:cs typeface="Times New Roman" panose="02020603050405020304" pitchFamily="18" charset="0"/>
                            </a:rPr>
                          </m:ctrlPr>
                        </m:sSubSupPr>
                        <m:e>
                          <m:r>
                            <a:rPr lang="fr-CA" sz="1800" b="0" i="1" smtClean="0">
                              <a:effectLst/>
                              <a:latin typeface="Cambria Math" panose="02040503050406030204" pitchFamily="18" charset="0"/>
                              <a:ea typeface="Cambria Math" panose="02040503050406030204" pitchFamily="18" charset="0"/>
                              <a:cs typeface="Times New Roman" panose="02020603050405020304" pitchFamily="18" charset="0"/>
                            </a:rPr>
                            <m:t>𝜎</m:t>
                          </m:r>
                        </m:e>
                        <m:sub>
                          <m:r>
                            <a:rPr lang="fr-CA" sz="1800" b="0" i="1" smtClean="0">
                              <a:effectLst/>
                              <a:latin typeface="Cambria Math" panose="02040503050406030204" pitchFamily="18" charset="0"/>
                              <a:cs typeface="Times New Roman" panose="02020603050405020304" pitchFamily="18" charset="0"/>
                            </a:rPr>
                            <m:t>𝑋</m:t>
                          </m:r>
                        </m:sub>
                        <m:sup>
                          <m:r>
                            <a:rPr lang="fr-CA" sz="1800" b="0" i="1" smtClean="0">
                              <a:effectLst/>
                              <a:latin typeface="Cambria Math" panose="02040503050406030204" pitchFamily="18" charset="0"/>
                              <a:cs typeface="Times New Roman" panose="02020603050405020304" pitchFamily="18" charset="0"/>
                            </a:rPr>
                            <m:t>2</m:t>
                          </m:r>
                        </m:sup>
                      </m:sSubSup>
                      <m:r>
                        <a:rPr lang="fr-CA" sz="1800" b="0" i="1" smtClean="0">
                          <a:effectLst/>
                          <a:latin typeface="Cambria Math" panose="02040503050406030204" pitchFamily="18" charset="0"/>
                          <a:cs typeface="Times New Roman" panose="02020603050405020304" pitchFamily="18" charset="0"/>
                        </a:rPr>
                        <m:t>=</m:t>
                      </m:r>
                      <m:f>
                        <m:fPr>
                          <m:ctrlPr>
                            <a:rPr lang="fr-CA" sz="1800" b="0" i="1" smtClean="0">
                              <a:effectLst/>
                              <a:latin typeface="Cambria Math" panose="02040503050406030204" pitchFamily="18" charset="0"/>
                              <a:cs typeface="Times New Roman" panose="02020603050405020304" pitchFamily="18" charset="0"/>
                            </a:rPr>
                          </m:ctrlPr>
                        </m:fPr>
                        <m:num>
                          <m:sSup>
                            <m:sSupPr>
                              <m:ctrlPr>
                                <a:rPr lang="fr-CA" sz="1800" b="0" i="1" smtClean="0">
                                  <a:effectLst/>
                                  <a:latin typeface="Cambria Math" panose="02040503050406030204" pitchFamily="18" charset="0"/>
                                  <a:cs typeface="Times New Roman" panose="02020603050405020304" pitchFamily="18" charset="0"/>
                                </a:rPr>
                              </m:ctrlPr>
                            </m:sSupPr>
                            <m:e>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𝑏</m:t>
                              </m:r>
                              <m:r>
                                <a:rPr lang="fr-CA" sz="1800" b="0" i="1" smtClean="0">
                                  <a:effectLst/>
                                  <a:latin typeface="Cambria Math" panose="02040503050406030204" pitchFamily="18" charset="0"/>
                                  <a:cs typeface="Times New Roman" panose="02020603050405020304" pitchFamily="18" charset="0"/>
                                </a:rPr>
                                <m:t>−</m:t>
                              </m:r>
                              <m:r>
                                <a:rPr lang="fr-CA" sz="1800" b="0" i="1" smtClean="0">
                                  <a:effectLst/>
                                  <a:latin typeface="Cambria Math" panose="02040503050406030204" pitchFamily="18" charset="0"/>
                                  <a:cs typeface="Times New Roman" panose="02020603050405020304" pitchFamily="18" charset="0"/>
                                </a:rPr>
                                <m:t>𝑎</m:t>
                              </m:r>
                              <m:r>
                                <a:rPr lang="fr-CA" sz="1800" b="0" i="1" smtClean="0">
                                  <a:effectLst/>
                                  <a:latin typeface="Cambria Math" panose="02040503050406030204" pitchFamily="18" charset="0"/>
                                  <a:cs typeface="Times New Roman" panose="02020603050405020304" pitchFamily="18" charset="0"/>
                                </a:rPr>
                                <m:t>)</m:t>
                              </m:r>
                            </m:e>
                            <m:sup>
                              <m:r>
                                <a:rPr lang="fr-CA" sz="1800" b="0" i="1" smtClean="0">
                                  <a:effectLst/>
                                  <a:latin typeface="Cambria Math" panose="02040503050406030204" pitchFamily="18" charset="0"/>
                                  <a:cs typeface="Times New Roman" panose="02020603050405020304" pitchFamily="18" charset="0"/>
                                </a:rPr>
                                <m:t>2</m:t>
                              </m:r>
                            </m:sup>
                          </m:sSup>
                        </m:num>
                        <m:den>
                          <m:r>
                            <a:rPr lang="fr-CA" sz="1800" b="0" i="1" smtClean="0">
                              <a:effectLst/>
                              <a:latin typeface="Cambria Math" panose="02040503050406030204" pitchFamily="18" charset="0"/>
                              <a:cs typeface="Times New Roman" panose="02020603050405020304" pitchFamily="18" charset="0"/>
                            </a:rPr>
                            <m:t>12</m:t>
                          </m:r>
                        </m:den>
                      </m:f>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ZoneTexte 4">
                <a:extLst>
                  <a:ext uri="{FF2B5EF4-FFF2-40B4-BE49-F238E27FC236}">
                    <a16:creationId xmlns:a16="http://schemas.microsoft.com/office/drawing/2014/main" id="{A448396B-537D-4AA2-B8FC-F29B8A7E4EC4}"/>
                  </a:ext>
                </a:extLst>
              </p:cNvPr>
              <p:cNvSpPr txBox="1">
                <a:spLocks noRot="1" noChangeAspect="1" noMove="1" noResize="1" noEditPoints="1" noAdjustHandles="1" noChangeArrowheads="1" noChangeShapeType="1" noTextEdit="1"/>
              </p:cNvSpPr>
              <p:nvPr/>
            </p:nvSpPr>
            <p:spPr>
              <a:xfrm>
                <a:off x="942703" y="1690688"/>
                <a:ext cx="10515600" cy="4839915"/>
              </a:xfrm>
              <a:prstGeom prst="rect">
                <a:avLst/>
              </a:prstGeom>
              <a:blipFill>
                <a:blip r:embed="rId2"/>
                <a:stretch>
                  <a:fillRect l="-522" t="-630" r="-638"/>
                </a:stretch>
              </a:blipFill>
            </p:spPr>
            <p:txBody>
              <a:bodyPr/>
              <a:lstStyle/>
              <a:p>
                <a:r>
                  <a:rPr lang="fr-CA">
                    <a:noFill/>
                  </a:rPr>
                  <a:t> </a:t>
                </a:r>
              </a:p>
            </p:txBody>
          </p:sp>
        </mc:Fallback>
      </mc:AlternateContent>
    </p:spTree>
    <p:extLst>
      <p:ext uri="{BB962C8B-B14F-4D97-AF65-F5344CB8AC3E}">
        <p14:creationId xmlns:p14="http://schemas.microsoft.com/office/powerpoint/2010/main" val="485318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8D0274-971A-4FDA-9C3C-2AA16BCFB47A}"/>
              </a:ext>
            </a:extLst>
          </p:cNvPr>
          <p:cNvSpPr>
            <a:spLocks noGrp="1"/>
          </p:cNvSpPr>
          <p:nvPr>
            <p:ph type="title"/>
          </p:nvPr>
        </p:nvSpPr>
        <p:spPr>
          <a:xfrm>
            <a:off x="838200" y="365125"/>
            <a:ext cx="10515600" cy="2665458"/>
          </a:xfrm>
        </p:spPr>
        <p:txBody>
          <a:bodyPr>
            <a:normAutofit fontScale="90000"/>
          </a:bodyPr>
          <a:lstStyle/>
          <a:p>
            <a:pPr algn="l">
              <a:lnSpc>
                <a:spcPct val="150000"/>
              </a:lnSpc>
              <a:spcAft>
                <a:spcPts val="800"/>
              </a:spcAft>
            </a:pPr>
            <a:r>
              <a:rPr lang="fr-CA" dirty="0"/>
              <a:t>Exemple 1: </a:t>
            </a:r>
            <a:r>
              <a:rPr lang="fr-FR" sz="1800" dirty="0">
                <a:solidFill>
                  <a:srgbClr val="000000"/>
                </a:solidFill>
                <a:effectLst/>
                <a:latin typeface="Times New Roman" panose="02020603050405020304" pitchFamily="18" charset="0"/>
                <a:ea typeface="Times New Roman" panose="02020603050405020304" pitchFamily="18" charset="0"/>
              </a:rPr>
              <a:t>Chaque matin, vous arrivez à 8 h à votre arrêt d’autobus. L’heure de passage de l’autobus suit une loi uniformément distribuée entre 8 h et 8 h 30.</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Quelle est la probabilité que l’autobus passe entre 8 h 10 et 8 h 15 une journée donnée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Sachant que vous attendez l’autobus depuis 10 minutes, quelle est la probabilité qu’il vous reste moins de 8 minutes à attendre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4F78667C-A777-4520-9FDE-AF84A517750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E9E0EBE-B93E-40C1-B0DA-AD8A910FFEEB}"/>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mc:Choice xmlns:a14="http://schemas.microsoft.com/office/drawing/2010/main" Requires="a14">
          <p:sp>
            <p:nvSpPr>
              <p:cNvPr id="5" name="ZoneTexte 4">
                <a:extLst>
                  <a:ext uri="{FF2B5EF4-FFF2-40B4-BE49-F238E27FC236}">
                    <a16:creationId xmlns:a16="http://schemas.microsoft.com/office/drawing/2014/main" id="{CBFD4C68-42B3-4CD3-B6F8-1668F25EE5B6}"/>
                  </a:ext>
                </a:extLst>
              </p:cNvPr>
              <p:cNvSpPr txBox="1"/>
              <p:nvPr/>
            </p:nvSpPr>
            <p:spPr>
              <a:xfrm>
                <a:off x="940526" y="3030583"/>
                <a:ext cx="10267405" cy="2489912"/>
              </a:xfrm>
              <a:prstGeom prst="rect">
                <a:avLst/>
              </a:prstGeom>
              <a:noFill/>
            </p:spPr>
            <p:txBody>
              <a:bodyPr wrap="square" rtlCol="0">
                <a:spAutoFit/>
              </a:bodyPr>
              <a:lstStyle/>
              <a:p>
                <a:r>
                  <a:rPr lang="fr-CA" dirty="0"/>
                  <a:t>Soit X, le moment du passage de l’autobus, X est </a:t>
                </a:r>
                <a:r>
                  <a:rPr lang="fr-CA" dirty="0" err="1"/>
                  <a:t>unif</a:t>
                </a:r>
                <a:r>
                  <a:rPr lang="fr-CA" dirty="0"/>
                  <a:t>(</a:t>
                </a:r>
                <a14:m>
                  <m:oMath xmlns:m="http://schemas.openxmlformats.org/officeDocument/2006/math">
                    <m:d>
                      <m:dPr>
                        <m:begChr m:val="["/>
                        <m:endChr m:val="]"/>
                        <m:ctrlPr>
                          <a:rPr lang="fr-CA" i="1" smtClean="0">
                            <a:latin typeface="Cambria Math" panose="02040503050406030204" pitchFamily="18" charset="0"/>
                          </a:rPr>
                        </m:ctrlPr>
                      </m:dPr>
                      <m:e>
                        <m:r>
                          <a:rPr lang="fr-CA" b="0" i="1" smtClean="0">
                            <a:latin typeface="Cambria Math" panose="02040503050406030204" pitchFamily="18" charset="0"/>
                          </a:rPr>
                          <m:t>0;30</m:t>
                        </m:r>
                      </m:e>
                    </m:d>
                  </m:oMath>
                </a14:m>
                <a:endParaRPr lang="fr-CA" dirty="0"/>
              </a:p>
              <a:p>
                <a:endParaRPr lang="fr-CA" dirty="0"/>
              </a:p>
              <a:p>
                <a:pPr marL="342900" indent="-342900">
                  <a:buAutoNum type="alphaLcParenBoth"/>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10</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&lt;15</m:t>
                        </m:r>
                      </m:e>
                    </m:d>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15</m:t>
                        </m:r>
                      </m:e>
                    </m:d>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10</m:t>
                        </m:r>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15−10</m:t>
                        </m:r>
                      </m:num>
                      <m:den>
                        <m:r>
                          <a:rPr lang="fr-CA" b="0" i="1" smtClean="0">
                            <a:latin typeface="Cambria Math" panose="02040503050406030204" pitchFamily="18" charset="0"/>
                            <a:ea typeface="Cambria Math" panose="02040503050406030204" pitchFamily="18" charset="0"/>
                          </a:rPr>
                          <m:t>30−0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5</m:t>
                        </m:r>
                      </m:num>
                      <m:den>
                        <m:r>
                          <a:rPr lang="fr-CA" b="0" i="1" smtClean="0">
                            <a:latin typeface="Cambria Math" panose="02040503050406030204" pitchFamily="18" charset="0"/>
                            <a:ea typeface="Cambria Math" panose="02040503050406030204" pitchFamily="18" charset="0"/>
                          </a:rPr>
                          <m:t>30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num>
                      <m:den>
                        <m:r>
                          <a:rPr lang="fr-CA" b="0" i="1" smtClean="0">
                            <a:latin typeface="Cambria Math" panose="02040503050406030204" pitchFamily="18" charset="0"/>
                            <a:ea typeface="Cambria Math" panose="02040503050406030204" pitchFamily="18" charset="0"/>
                          </a:rPr>
                          <m:t>6</m:t>
                        </m:r>
                      </m:den>
                    </m:f>
                  </m:oMath>
                </a14:m>
                <a:endParaRPr lang="fr-CA" dirty="0"/>
              </a:p>
              <a:p>
                <a:pPr marL="342900" indent="-342900">
                  <a:buAutoNum type="alphaLcParenBoth"/>
                </a:pPr>
                <a:endParaRPr lang="fr-CA" dirty="0"/>
              </a:p>
              <a:p>
                <a:pPr marL="342900" indent="-342900">
                  <a:buAutoNum type="alphaLcParenBoth"/>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&lt;18</m:t>
                        </m:r>
                      </m:e>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m:t>
                        </m:r>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&lt;18;</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m:t>
                        </m:r>
                      </m:num>
                      <m:den>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(10&lt;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&lt;18)</m:t>
                        </m:r>
                      </m:num>
                      <m:den>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18</m:t>
                            </m:r>
                          </m:e>
                        </m:d>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r>
                          <a:rPr lang="fr-CA" b="0" i="1" smtClean="0">
                            <a:latin typeface="Cambria Math" panose="02040503050406030204" pitchFamily="18" charset="0"/>
                            <a:ea typeface="Cambria Math" panose="02040503050406030204" pitchFamily="18" charset="0"/>
                          </a:rPr>
                          <m:t>(10)</m:t>
                        </m:r>
                      </m:num>
                      <m:den>
                        <m:r>
                          <a:rPr lang="fr-CA" b="0" i="1" smtClean="0">
                            <a:latin typeface="Cambria Math" panose="02040503050406030204" pitchFamily="18" charset="0"/>
                            <a:ea typeface="Cambria Math" panose="02040503050406030204" pitchFamily="18" charset="0"/>
                          </a:rPr>
                          <m:t>1−</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𝐹</m:t>
                            </m:r>
                          </m:e>
                          <m:sub>
                            <m:r>
                              <a:rPr lang="fr-CA" b="0" i="1" smtClean="0">
                                <a:latin typeface="Cambria Math" panose="02040503050406030204" pitchFamily="18" charset="0"/>
                                <a:ea typeface="Cambria Math" panose="02040503050406030204" pitchFamily="18" charset="0"/>
                              </a:rPr>
                              <m:t>𝑋</m:t>
                            </m:r>
                          </m:sub>
                        </m:sSub>
                        <m:r>
                          <a:rPr lang="fr-CA" b="0" i="1" smtClean="0">
                            <a:latin typeface="Cambria Math" panose="02040503050406030204" pitchFamily="18" charset="0"/>
                            <a:ea typeface="Cambria Math" panose="02040503050406030204" pitchFamily="18" charset="0"/>
                          </a:rPr>
                          <m:t>(10)</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18−10</m:t>
                            </m:r>
                          </m:num>
                          <m:den>
                            <m:r>
                              <a:rPr lang="fr-CA" b="0" i="1" smtClean="0">
                                <a:latin typeface="Cambria Math" panose="02040503050406030204" pitchFamily="18" charset="0"/>
                                <a:ea typeface="Cambria Math" panose="02040503050406030204" pitchFamily="18" charset="0"/>
                              </a:rPr>
                              <m:t>30</m:t>
                            </m:r>
                          </m:den>
                        </m:f>
                      </m:num>
                      <m:den>
                        <m:r>
                          <a:rPr lang="fr-CA" b="0" i="1" smtClean="0">
                            <a:latin typeface="Cambria Math" panose="02040503050406030204" pitchFamily="18" charset="0"/>
                            <a:ea typeface="Cambria Math" panose="02040503050406030204" pitchFamily="18" charset="0"/>
                          </a:rPr>
                          <m:t>1−</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10</m:t>
                            </m:r>
                          </m:num>
                          <m:den>
                            <m:r>
                              <a:rPr lang="fr-CA" b="0" i="1" smtClean="0">
                                <a:latin typeface="Cambria Math" panose="02040503050406030204" pitchFamily="18" charset="0"/>
                                <a:ea typeface="Cambria Math" panose="02040503050406030204" pitchFamily="18" charset="0"/>
                              </a:rPr>
                              <m:t>30</m:t>
                            </m:r>
                          </m:den>
                        </m:f>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8</m:t>
                        </m:r>
                      </m:num>
                      <m:den>
                        <m:r>
                          <a:rPr lang="fr-CA" b="0" i="1" smtClean="0">
                            <a:latin typeface="Cambria Math" panose="02040503050406030204" pitchFamily="18" charset="0"/>
                            <a:ea typeface="Cambria Math" panose="02040503050406030204" pitchFamily="18" charset="0"/>
                          </a:rPr>
                          <m:t>20</m:t>
                        </m:r>
                      </m:den>
                    </m:f>
                    <m:r>
                      <a:rPr lang="fr-CA" b="0" i="1" smtClean="0">
                        <a:latin typeface="Cambria Math" panose="02040503050406030204" pitchFamily="18" charset="0"/>
                        <a:ea typeface="Cambria Math" panose="02040503050406030204" pitchFamily="18" charset="0"/>
                      </a:rPr>
                      <m:t>=0,4</m:t>
                    </m:r>
                  </m:oMath>
                </a14:m>
                <a:endParaRPr lang="fr-CA" dirty="0"/>
              </a:p>
              <a:p>
                <a:pPr marL="342900" indent="-342900">
                  <a:buAutoNum type="alphaLcParenBoth"/>
                </a:pPr>
                <a:endParaRPr lang="fr-CA" dirty="0"/>
              </a:p>
              <a:p>
                <a:r>
                  <a:rPr lang="fr-CA" dirty="0"/>
                  <a:t> </a:t>
                </a:r>
              </a:p>
            </p:txBody>
          </p:sp>
        </mc:Choice>
        <mc:Fallback>
          <p:sp>
            <p:nvSpPr>
              <p:cNvPr id="5" name="ZoneTexte 4">
                <a:extLst>
                  <a:ext uri="{FF2B5EF4-FFF2-40B4-BE49-F238E27FC236}">
                    <a16:creationId xmlns:a16="http://schemas.microsoft.com/office/drawing/2014/main" id="{CBFD4C68-42B3-4CD3-B6F8-1668F25EE5B6}"/>
                  </a:ext>
                </a:extLst>
              </p:cNvPr>
              <p:cNvSpPr txBox="1">
                <a:spLocks noRot="1" noChangeAspect="1" noMove="1" noResize="1" noEditPoints="1" noAdjustHandles="1" noChangeArrowheads="1" noChangeShapeType="1" noTextEdit="1"/>
              </p:cNvSpPr>
              <p:nvPr/>
            </p:nvSpPr>
            <p:spPr>
              <a:xfrm>
                <a:off x="940526" y="3030583"/>
                <a:ext cx="10267405" cy="2489912"/>
              </a:xfrm>
              <a:prstGeom prst="rect">
                <a:avLst/>
              </a:prstGeom>
              <a:blipFill>
                <a:blip r:embed="rId2"/>
                <a:stretch>
                  <a:fillRect l="-475" t="-1222"/>
                </a:stretch>
              </a:blipFill>
            </p:spPr>
            <p:txBody>
              <a:bodyPr/>
              <a:lstStyle/>
              <a:p>
                <a:r>
                  <a:rPr lang="en-CA">
                    <a:noFill/>
                  </a:rPr>
                  <a:t> </a:t>
                </a:r>
              </a:p>
            </p:txBody>
          </p:sp>
        </mc:Fallback>
      </mc:AlternateContent>
    </p:spTree>
    <p:extLst>
      <p:ext uri="{BB962C8B-B14F-4D97-AF65-F5344CB8AC3E}">
        <p14:creationId xmlns:p14="http://schemas.microsoft.com/office/powerpoint/2010/main" val="3375082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E21A8A-2F9E-4EED-A9BD-D1FAEC2CCFF6}"/>
              </a:ext>
            </a:extLst>
          </p:cNvPr>
          <p:cNvSpPr>
            <a:spLocks noGrp="1"/>
          </p:cNvSpPr>
          <p:nvPr>
            <p:ph type="title"/>
          </p:nvPr>
        </p:nvSpPr>
        <p:spPr>
          <a:xfrm>
            <a:off x="838200" y="365125"/>
            <a:ext cx="10515600" cy="1853640"/>
          </a:xfrm>
        </p:spPr>
        <p:txBody>
          <a:bodyPr>
            <a:normAutofit/>
          </a:bodyPr>
          <a:lstStyle/>
          <a:p>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Un point est choisi au hasard sur un segment de longueur </a:t>
            </a:r>
            <a:r>
              <a:rPr lang="fr-FR" sz="1800" i="1" dirty="0">
                <a:solidFill>
                  <a:srgbClr val="000000"/>
                </a:solidFill>
                <a:effectLst/>
                <a:latin typeface="Times New Roman" panose="02020603050405020304" pitchFamily="18" charset="0"/>
                <a:ea typeface="Times New Roman" panose="02020603050405020304" pitchFamily="18" charset="0"/>
              </a:rPr>
              <a:t>L et le divise en deux</a:t>
            </a:r>
            <a:r>
              <a:rPr lang="fr-FR" sz="1800" dirty="0">
                <a:solidFill>
                  <a:srgbClr val="000000"/>
                </a:solidFill>
                <a:effectLst/>
                <a:latin typeface="Times New Roman" panose="02020603050405020304" pitchFamily="18" charset="0"/>
                <a:ea typeface="Times New Roman" panose="02020603050405020304" pitchFamily="18" charset="0"/>
              </a:rPr>
              <a:t>. Déterminez la probabilité que le rapport entre le plus grand et le plus petit segment obtenu soit inférieur à 4.</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518BA7D1-B059-400C-87A5-910772CF195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FB77453-936E-4415-A0AD-52E5048972EC}"/>
              </a:ext>
            </a:extLst>
          </p:cNvPr>
          <p:cNvSpPr>
            <a:spLocks noGrp="1"/>
          </p:cNvSpPr>
          <p:nvPr>
            <p:ph type="sldNum" sz="quarter" idx="12"/>
          </p:nvPr>
        </p:nvSpPr>
        <p:spPr/>
        <p:txBody>
          <a:bodyPr/>
          <a:lstStyle/>
          <a:p>
            <a:fld id="{26377AD9-CE17-438C-A638-C64D2D42D7CF}" type="slidenum">
              <a:rPr lang="fr-CA" smtClean="0"/>
              <a:t>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D61E21D-F9FB-4B03-BE17-FC573C38FA17}"/>
                  </a:ext>
                </a:extLst>
              </p:cNvPr>
              <p:cNvSpPr txBox="1"/>
              <p:nvPr/>
            </p:nvSpPr>
            <p:spPr>
              <a:xfrm>
                <a:off x="1062319" y="2084293"/>
                <a:ext cx="10291481" cy="2189254"/>
              </a:xfrm>
              <a:prstGeom prst="rect">
                <a:avLst/>
              </a:prstGeom>
              <a:noFill/>
            </p:spPr>
            <p:txBody>
              <a:bodyPr wrap="square" rtlCol="0">
                <a:spAutoFit/>
              </a:bodyPr>
              <a:lstStyle/>
              <a:p>
                <a:r>
                  <a:rPr lang="fr-CA" b="1" dirty="0"/>
                  <a:t>Réponse:  </a:t>
                </a:r>
                <a:r>
                  <a:rPr lang="fr-CA" sz="2000" dirty="0"/>
                  <a:t>Soit X, la position du point </a:t>
                </a:r>
                <a:r>
                  <a:rPr lang="fr-CA" sz="2000"/>
                  <a:t>de partage. </a:t>
                </a:r>
                <a:r>
                  <a:rPr lang="fr-CA" sz="2000" dirty="0"/>
                  <a:t>Alors X suit une loi uniforme sur </a:t>
                </a:r>
                <a14:m>
                  <m:oMath xmlns:m="http://schemas.openxmlformats.org/officeDocument/2006/math">
                    <m:d>
                      <m:dPr>
                        <m:begChr m:val="["/>
                        <m:endChr m:val="]"/>
                        <m:ctrlPr>
                          <a:rPr lang="fr-CA" sz="2000" i="1" smtClean="0">
                            <a:latin typeface="Cambria Math" panose="02040503050406030204" pitchFamily="18" charset="0"/>
                          </a:rPr>
                        </m:ctrlPr>
                      </m:dPr>
                      <m:e>
                        <m:r>
                          <a:rPr lang="fr-CA" sz="2000" b="0" i="1" smtClean="0">
                            <a:latin typeface="Cambria Math" panose="02040503050406030204" pitchFamily="18" charset="0"/>
                          </a:rPr>
                          <m:t>0;</m:t>
                        </m:r>
                        <m:r>
                          <a:rPr lang="fr-CA" sz="2000" b="0" i="1" smtClean="0">
                            <a:latin typeface="Cambria Math" panose="02040503050406030204" pitchFamily="18" charset="0"/>
                          </a:rPr>
                          <m:t>𝐿</m:t>
                        </m:r>
                      </m:e>
                    </m:d>
                  </m:oMath>
                </a14:m>
                <a:r>
                  <a:rPr lang="fr-CA" sz="2000" dirty="0"/>
                  <a:t>. Le plus grand segment peut être de longueur X ou L-X. Donc on cherche la probabilité que:</a:t>
                </a:r>
              </a:p>
              <a:p>
                <a:endParaRPr lang="fr-CA" sz="2000" dirty="0"/>
              </a:p>
              <a:p>
                <a:pPr/>
                <a14:m>
                  <m:oMathPara xmlns:m="http://schemas.openxmlformats.org/officeDocument/2006/math">
                    <m:oMathParaPr>
                      <m:jc m:val="centerGroup"/>
                    </m:oMathParaPr>
                    <m:oMath xmlns:m="http://schemas.openxmlformats.org/officeDocument/2006/math">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f>
                            <m:fPr>
                              <m:ctrlPr>
                                <a:rPr lang="fr-CA" sz="2000" b="0" i="1" smtClean="0">
                                  <a:latin typeface="Cambria Math" panose="02040503050406030204" pitchFamily="18" charset="0"/>
                                </a:rPr>
                              </m:ctrlPr>
                            </m:fPr>
                            <m:num>
                              <m:r>
                                <a:rPr lang="fr-CA" sz="2000" b="0" i="1" smtClean="0">
                                  <a:latin typeface="Cambria Math" panose="02040503050406030204" pitchFamily="18" charset="0"/>
                                </a:rPr>
                                <m:t>𝑋</m:t>
                              </m:r>
                            </m:num>
                            <m:den>
                              <m:r>
                                <a:rPr lang="fr-CA" sz="2000" b="0" i="1" smtClean="0">
                                  <a:latin typeface="Cambria Math" panose="02040503050406030204" pitchFamily="18" charset="0"/>
                                </a:rPr>
                                <m:t>𝐿</m:t>
                              </m:r>
                              <m:r>
                                <a:rPr lang="fr-CA" sz="2000" b="0" i="1" smtClean="0">
                                  <a:latin typeface="Cambria Math" panose="02040503050406030204" pitchFamily="18" charset="0"/>
                                </a:rPr>
                                <m:t>−</m:t>
                              </m:r>
                              <m:r>
                                <a:rPr lang="fr-CA" sz="2000" b="0" i="1" smtClean="0">
                                  <a:latin typeface="Cambria Math" panose="02040503050406030204" pitchFamily="18" charset="0"/>
                                </a:rPr>
                                <m:t>𝑋</m:t>
                              </m:r>
                            </m:den>
                          </m:f>
                          <m:r>
                            <a:rPr lang="fr-CA" sz="2000" b="0" i="1" smtClean="0">
                              <a:latin typeface="Cambria Math" panose="02040503050406030204" pitchFamily="18" charset="0"/>
                              <a:ea typeface="Cambria Math" panose="02040503050406030204" pitchFamily="18" charset="0"/>
                            </a:rPr>
                            <m:t>&lt;4</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𝑋</m:t>
                              </m:r>
                            </m:num>
                            <m:den>
                              <m:r>
                                <a:rPr lang="fr-CA" sz="2000" b="0" i="1" smtClean="0">
                                  <a:latin typeface="Cambria Math" panose="02040503050406030204" pitchFamily="18" charset="0"/>
                                  <a:ea typeface="Cambria Math" panose="02040503050406030204" pitchFamily="18" charset="0"/>
                                </a:rPr>
                                <m:t>𝑋</m:t>
                              </m:r>
                            </m:den>
                          </m:f>
                          <m:r>
                            <a:rPr lang="fr-CA" sz="2000" b="0" i="1" smtClean="0">
                              <a:latin typeface="Cambria Math" panose="02040503050406030204" pitchFamily="18" charset="0"/>
                              <a:ea typeface="Cambria Math" panose="02040503050406030204" pitchFamily="18" charset="0"/>
                            </a:rPr>
                            <m:t>&lt;4</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&lt;4</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𝑋</m:t>
                              </m:r>
                            </m:e>
                          </m:d>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&lt;4</m:t>
                          </m:r>
                          <m:r>
                            <a:rPr lang="fr-CA" sz="2000" b="0" i="1" smtClean="0">
                              <a:latin typeface="Cambria Math" panose="02040503050406030204" pitchFamily="18" charset="0"/>
                              <a:ea typeface="Cambria Math" panose="02040503050406030204" pitchFamily="18" charset="0"/>
                            </a:rPr>
                            <m:t>𝑋</m:t>
                          </m:r>
                        </m:e>
                      </m:d>
                      <m:r>
                        <a:rPr lang="fr-CA" sz="2000" b="0" i="1" smtClean="0">
                          <a:latin typeface="Cambria Math" panose="02040503050406030204" pitchFamily="18" charset="0"/>
                          <a:ea typeface="Cambria Math" panose="02040503050406030204" pitchFamily="18" charset="0"/>
                        </a:rPr>
                        <m:t>=</m:t>
                      </m:r>
                    </m:oMath>
                  </m:oMathPara>
                </a14:m>
                <a:endParaRPr lang="fr-CA" sz="20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r>
                            <a:rPr lang="fr-CA" sz="2000" b="0" i="1" smtClean="0">
                              <a:latin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4</m:t>
                              </m:r>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&lt;5</m:t>
                          </m:r>
                          <m:r>
                            <a:rPr lang="fr-CA" sz="2000" b="0" i="1" smtClean="0">
                              <a:latin typeface="Cambria Math" panose="02040503050406030204" pitchFamily="18" charset="0"/>
                              <a:ea typeface="Cambria Math" panose="02040503050406030204" pitchFamily="18" charset="0"/>
                            </a:rPr>
                            <m:t>𝑋</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4</m:t>
                              </m:r>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&gt;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&lt;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4</m:t>
                              </m:r>
                              <m:r>
                                <a:rPr lang="fr-CA" sz="2000" b="0" i="1" smtClean="0">
                                  <a:latin typeface="Cambria Math" panose="02040503050406030204" pitchFamily="18" charset="0"/>
                                  <a:ea typeface="Cambria Math" panose="02040503050406030204" pitchFamily="18" charset="0"/>
                                </a:rPr>
                                <m:t>𝐿</m:t>
                              </m:r>
                            </m:num>
                            <m:den>
                              <m:r>
                                <a:rPr lang="fr-CA" sz="2000" b="0" i="1" smtClean="0">
                                  <a:latin typeface="Cambria Math" panose="02040503050406030204" pitchFamily="18" charset="0"/>
                                  <a:ea typeface="Cambria Math" panose="02040503050406030204" pitchFamily="18" charset="0"/>
                                </a:rPr>
                                <m:t>5</m:t>
                              </m:r>
                            </m:den>
                          </m:f>
                        </m:e>
                      </m:d>
                      <m:r>
                        <a:rPr lang="fr-CA" sz="2000" b="0" i="1" smtClean="0">
                          <a:latin typeface="Cambria Math" panose="02040503050406030204" pitchFamily="18" charset="0"/>
                          <a:ea typeface="Cambria Math" panose="02040503050406030204" pitchFamily="18" charset="0"/>
                        </a:rPr>
                        <m: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3</m:t>
                          </m:r>
                          <m:r>
                            <a:rPr lang="fr-CA" sz="2000" b="0" i="1" smtClean="0">
                              <a:latin typeface="Cambria Math" panose="02040503050406030204" pitchFamily="18" charset="0"/>
                              <a:ea typeface="Cambria Math" panose="02040503050406030204" pitchFamily="18" charset="0"/>
                            </a:rPr>
                            <m:t>𝐿</m:t>
                          </m:r>
                          <m:r>
                            <a:rPr lang="fr-CA" sz="2000" b="0" i="1" smtClean="0">
                              <a:latin typeface="Cambria Math" panose="02040503050406030204" pitchFamily="18" charset="0"/>
                              <a:ea typeface="Cambria Math" panose="02040503050406030204" pitchFamily="18" charset="0"/>
                            </a:rPr>
                            <m:t>/5</m:t>
                          </m:r>
                        </m:num>
                        <m:den>
                          <m:r>
                            <a:rPr lang="fr-CA" sz="2000" b="0" i="1" smtClean="0">
                              <a:latin typeface="Cambria Math" panose="02040503050406030204" pitchFamily="18" charset="0"/>
                              <a:ea typeface="Cambria Math" panose="02040503050406030204" pitchFamily="18" charset="0"/>
                            </a:rPr>
                            <m:t>𝐿</m:t>
                          </m:r>
                        </m:den>
                      </m:f>
                      <m:r>
                        <a:rPr lang="fr-CA" sz="2000" b="0" i="1" smtClean="0">
                          <a:latin typeface="Cambria Math" panose="02040503050406030204" pitchFamily="18" charset="0"/>
                          <a:ea typeface="Cambria Math" panose="02040503050406030204" pitchFamily="18" charset="0"/>
                        </a:rPr>
                        <m:t>=</m:t>
                      </m:r>
                      <m:f>
                        <m:fPr>
                          <m:ctrlPr>
                            <a:rPr lang="fr-CA" sz="2000" b="0" i="1" smtClean="0">
                              <a:latin typeface="Cambria Math" panose="02040503050406030204" pitchFamily="18" charset="0"/>
                              <a:ea typeface="Cambria Math" panose="02040503050406030204" pitchFamily="18" charset="0"/>
                            </a:rPr>
                          </m:ctrlPr>
                        </m:fPr>
                        <m:num>
                          <m:r>
                            <a:rPr lang="fr-CA" sz="2000" b="0" i="1" smtClean="0">
                              <a:latin typeface="Cambria Math" panose="02040503050406030204" pitchFamily="18" charset="0"/>
                              <a:ea typeface="Cambria Math" panose="02040503050406030204" pitchFamily="18" charset="0"/>
                            </a:rPr>
                            <m:t>3</m:t>
                          </m:r>
                        </m:num>
                        <m:den>
                          <m:r>
                            <a:rPr lang="fr-CA" sz="2000" b="0" i="1" smtClean="0">
                              <a:latin typeface="Cambria Math" panose="02040503050406030204" pitchFamily="18" charset="0"/>
                              <a:ea typeface="Cambria Math" panose="02040503050406030204" pitchFamily="18" charset="0"/>
                            </a:rPr>
                            <m:t>5</m:t>
                          </m:r>
                        </m:den>
                      </m:f>
                      <m:r>
                        <a:rPr lang="fr-CA" sz="2000" b="0" i="1" smtClean="0">
                          <a:latin typeface="Cambria Math" panose="02040503050406030204" pitchFamily="18" charset="0"/>
                          <a:ea typeface="Cambria Math" panose="02040503050406030204" pitchFamily="18" charset="0"/>
                        </a:rPr>
                        <m:t>=0,6</m:t>
                      </m:r>
                    </m:oMath>
                  </m:oMathPara>
                </a14:m>
                <a:endParaRPr lang="fr-CA" sz="2000" dirty="0"/>
              </a:p>
            </p:txBody>
          </p:sp>
        </mc:Choice>
        <mc:Fallback xmlns="">
          <p:sp>
            <p:nvSpPr>
              <p:cNvPr id="5" name="ZoneTexte 4">
                <a:extLst>
                  <a:ext uri="{FF2B5EF4-FFF2-40B4-BE49-F238E27FC236}">
                    <a16:creationId xmlns:a16="http://schemas.microsoft.com/office/drawing/2014/main" id="{1D61E21D-F9FB-4B03-BE17-FC573C38FA17}"/>
                  </a:ext>
                </a:extLst>
              </p:cNvPr>
              <p:cNvSpPr txBox="1">
                <a:spLocks noRot="1" noChangeAspect="1" noMove="1" noResize="1" noEditPoints="1" noAdjustHandles="1" noChangeArrowheads="1" noChangeShapeType="1" noTextEdit="1"/>
              </p:cNvSpPr>
              <p:nvPr/>
            </p:nvSpPr>
            <p:spPr>
              <a:xfrm>
                <a:off x="1062319" y="2084293"/>
                <a:ext cx="10291481" cy="2189254"/>
              </a:xfrm>
              <a:prstGeom prst="rect">
                <a:avLst/>
              </a:prstGeom>
              <a:blipFill>
                <a:blip r:embed="rId2"/>
                <a:stretch>
                  <a:fillRect l="-592" t="-1671"/>
                </a:stretch>
              </a:blipFill>
            </p:spPr>
            <p:txBody>
              <a:bodyPr/>
              <a:lstStyle/>
              <a:p>
                <a:r>
                  <a:rPr lang="fr-CA">
                    <a:noFill/>
                  </a:rPr>
                  <a:t> </a:t>
                </a:r>
              </a:p>
            </p:txBody>
          </p:sp>
        </mc:Fallback>
      </mc:AlternateContent>
    </p:spTree>
    <p:extLst>
      <p:ext uri="{BB962C8B-B14F-4D97-AF65-F5344CB8AC3E}">
        <p14:creationId xmlns:p14="http://schemas.microsoft.com/office/powerpoint/2010/main" val="3655482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BBD870-F131-4C29-9CD7-DE9AFF8A736D}"/>
              </a:ext>
            </a:extLst>
          </p:cNvPr>
          <p:cNvSpPr>
            <a:spLocks noGrp="1"/>
          </p:cNvSpPr>
          <p:nvPr>
            <p:ph type="title"/>
          </p:nvPr>
        </p:nvSpPr>
        <p:spPr>
          <a:xfrm>
            <a:off x="838199" y="136525"/>
            <a:ext cx="11035937" cy="1554163"/>
          </a:xfrm>
        </p:spPr>
        <p:txBody>
          <a:bodyPr/>
          <a:lstStyle/>
          <a:p>
            <a:r>
              <a:rPr lang="fr-CA" dirty="0"/>
              <a:t>II. La loi exponentielle: </a:t>
            </a:r>
            <a:r>
              <a:rPr lang="fr-CA" sz="1800" dirty="0">
                <a:effectLst/>
                <a:latin typeface="Calibri" panose="020F0502020204030204" pitchFamily="34" charset="0"/>
                <a:ea typeface="Calibri" panose="020F0502020204030204" pitchFamily="34" charset="0"/>
                <a:cs typeface="Times New Roman" panose="02020603050405020304" pitchFamily="18" charset="0"/>
              </a:rPr>
              <a:t>La </a:t>
            </a:r>
            <a:r>
              <a:rPr lang="fr-CA" sz="1800" b="1" dirty="0">
                <a:effectLst/>
                <a:latin typeface="Calibri" panose="020F0502020204030204" pitchFamily="34" charset="0"/>
                <a:ea typeface="Calibri" panose="020F0502020204030204" pitchFamily="34" charset="0"/>
                <a:cs typeface="Times New Roman" panose="02020603050405020304" pitchFamily="18" charset="0"/>
              </a:rPr>
              <a:t>loi exponentielle</a:t>
            </a:r>
            <a:r>
              <a:rPr lang="fr-CA" sz="1800" dirty="0">
                <a:effectLst/>
                <a:latin typeface="Calibri" panose="020F0502020204030204" pitchFamily="34" charset="0"/>
                <a:ea typeface="Calibri" panose="020F0502020204030204" pitchFamily="34" charset="0"/>
                <a:cs typeface="Times New Roman" panose="02020603050405020304" pitchFamily="18" charset="0"/>
              </a:rPr>
              <a:t> est une variable aléatoire continue étroitement liée à la variable de Poisson qui, elle, est discrète</a:t>
            </a:r>
            <a:endParaRPr lang="fr-CA" dirty="0"/>
          </a:p>
        </p:txBody>
      </p:sp>
      <p:sp>
        <p:nvSpPr>
          <p:cNvPr id="3" name="Espace réservé du pied de page 2">
            <a:extLst>
              <a:ext uri="{FF2B5EF4-FFF2-40B4-BE49-F238E27FC236}">
                <a16:creationId xmlns:a16="http://schemas.microsoft.com/office/drawing/2014/main" id="{051DA53D-112A-4ED3-A641-0C1FB1B925B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232A2AC-ACDA-478D-B877-0C9951C744D5}"/>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4CF08C7-78E1-4D83-A9F3-96ABD9B70463}"/>
                  </a:ext>
                </a:extLst>
              </p:cNvPr>
              <p:cNvSpPr txBox="1"/>
              <p:nvPr/>
            </p:nvSpPr>
            <p:spPr>
              <a:xfrm>
                <a:off x="339633" y="3683726"/>
                <a:ext cx="11852367" cy="2764796"/>
              </a:xfrm>
              <a:prstGeom prst="rect">
                <a:avLst/>
              </a:prstGeom>
              <a:noFill/>
            </p:spPr>
            <p:txBody>
              <a:bodyPr wrap="square" rtlCol="0">
                <a:spAutoFit/>
              </a:bodyPr>
              <a:lstStyle/>
              <a:p>
                <a:endParaRPr lang="fr-CA" dirty="0"/>
              </a:p>
              <a:p>
                <a:endParaRPr lang="fr-CA" dirty="0"/>
              </a:p>
              <a:p>
                <a:r>
                  <a:rPr lang="fr-CA" sz="1800" dirty="0">
                    <a:effectLst/>
                    <a:latin typeface="Calibri" panose="020F0502020204030204" pitchFamily="34" charset="0"/>
                    <a:ea typeface="Calibri" panose="020F0502020204030204" pitchFamily="34" charset="0"/>
                    <a:cs typeface="Times New Roman" panose="02020603050405020304" pitchFamily="18" charset="0"/>
                  </a:rPr>
                  <a:t>Si on définit </a:t>
                </a:r>
                <a:r>
                  <a:rPr lang="fr-CA" sz="1800" i="1" dirty="0">
                    <a:effectLst/>
                    <a:latin typeface="Calibri" panose="020F0502020204030204" pitchFamily="34" charset="0"/>
                    <a:ea typeface="Calibri" panose="020F0502020204030204" pitchFamily="34" charset="0"/>
                    <a:cs typeface="Times New Roman" panose="02020603050405020304" pitchFamily="18" charset="0"/>
                  </a:rPr>
                  <a:t>X</a:t>
                </a:r>
                <a:r>
                  <a:rPr lang="fr-CA" sz="1800" dirty="0">
                    <a:effectLst/>
                    <a:latin typeface="Calibri" panose="020F0502020204030204" pitchFamily="34" charset="0"/>
                    <a:ea typeface="Calibri" panose="020F0502020204030204" pitchFamily="34" charset="0"/>
                    <a:cs typeface="Times New Roman" panose="02020603050405020304" pitchFamily="18" charset="0"/>
                  </a:rPr>
                  <a:t> comme étant le temps qui sépare deux événements de Poisson consécutifs, on obtient une variable exponentielle qui a le même paramètre  que la loi de Poisson.</a:t>
                </a:r>
              </a:p>
              <a:p>
                <a:endParaRPr lang="fr-CA" dirty="0">
                  <a:latin typeface="Calibri" panose="020F0502020204030204" pitchFamily="34" charset="0"/>
                  <a:cs typeface="Times New Roman" panose="02020603050405020304" pitchFamily="18" charset="0"/>
                </a:endParaRPr>
              </a:p>
              <a:p>
                <a:r>
                  <a:rPr lang="fr-CA" dirty="0">
                    <a:latin typeface="Calibri" panose="020F0502020204030204" pitchFamily="34" charset="0"/>
                    <a:cs typeface="Times New Roman" panose="02020603050405020304" pitchFamily="18" charset="0"/>
                  </a:rPr>
                  <a:t>Sa fonction densité des probabilités est </a:t>
                </a:r>
                <a14:m>
                  <m:oMath xmlns:m="http://schemas.openxmlformats.org/officeDocument/2006/math">
                    <m:sSub>
                      <m:sSubPr>
                        <m:ctrlPr>
                          <a:rPr lang="fr-CA" i="1" smtClean="0">
                            <a:latin typeface="Cambria Math" panose="02040503050406030204" pitchFamily="18" charset="0"/>
                            <a:cs typeface="Times New Roman" panose="02020603050405020304" pitchFamily="18" charset="0"/>
                          </a:rPr>
                        </m:ctrlPr>
                      </m:sSubPr>
                      <m:e>
                        <m:r>
                          <a:rPr lang="fr-CA" b="0" i="1" smtClean="0">
                            <a:latin typeface="Cambria Math" panose="02040503050406030204" pitchFamily="18" charset="0"/>
                            <a:cs typeface="Times New Roman" panose="02020603050405020304" pitchFamily="18" charset="0"/>
                          </a:rPr>
                          <m:t>𝑓</m:t>
                        </m:r>
                      </m:e>
                      <m:sub>
                        <m:r>
                          <a:rPr lang="fr-CA" b="0" i="1" smtClean="0">
                            <a:latin typeface="Cambria Math" panose="02040503050406030204" pitchFamily="18" charset="0"/>
                            <a:cs typeface="Times New Roman" panose="02020603050405020304" pitchFamily="18" charset="0"/>
                          </a:rPr>
                          <m:t>𝑋</m:t>
                        </m:r>
                      </m:sub>
                    </m:sSub>
                    <m:d>
                      <m:dPr>
                        <m:ctrlPr>
                          <a:rPr lang="fr-CA" b="0" i="1" smtClean="0">
                            <a:latin typeface="Cambria Math" panose="02040503050406030204" pitchFamily="18" charset="0"/>
                            <a:cs typeface="Times New Roman" panose="02020603050405020304" pitchFamily="18" charset="0"/>
                          </a:rPr>
                        </m:ctrlPr>
                      </m:dPr>
                      <m:e>
                        <m:r>
                          <a:rPr lang="fr-CA" b="0" i="1" smtClean="0">
                            <a:latin typeface="Cambria Math" panose="02040503050406030204" pitchFamily="18" charset="0"/>
                            <a:cs typeface="Times New Roman" panose="02020603050405020304" pitchFamily="18" charset="0"/>
                          </a:rPr>
                          <m:t>𝑥</m:t>
                        </m:r>
                      </m:e>
                    </m:d>
                    <m:r>
                      <a:rPr lang="fr-CA" b="0" i="1" smtClean="0">
                        <a:latin typeface="Cambria Math" panose="02040503050406030204" pitchFamily="18" charset="0"/>
                        <a:cs typeface="Times New Roman" panose="02020603050405020304" pitchFamily="18" charset="0"/>
                      </a:rPr>
                      <m:t>=</m:t>
                    </m:r>
                    <m:d>
                      <m:dPr>
                        <m:begChr m:val="{"/>
                        <m:endChr m:val=""/>
                        <m:ctrlPr>
                          <a:rPr lang="fr-CA" b="0" i="1" smtClean="0">
                            <a:latin typeface="Cambria Math" panose="02040503050406030204" pitchFamily="18" charset="0"/>
                            <a:cs typeface="Times New Roman" panose="02020603050405020304" pitchFamily="18" charset="0"/>
                          </a:rPr>
                        </m:ctrlPr>
                      </m:dPr>
                      <m:e>
                        <m:eqArr>
                          <m:eqArrPr>
                            <m:ctrlPr>
                              <a:rPr lang="fr-CA"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fr-CA" b="0" i="1" smtClean="0">
                                <a:latin typeface="Cambria Math" panose="02040503050406030204" pitchFamily="18" charset="0"/>
                                <a:ea typeface="Cambria Math" panose="02040503050406030204" pitchFamily="18" charset="0"/>
                                <a:cs typeface="Times New Roman" panose="02020603050405020304" pitchFamily="18" charset="0"/>
                              </a:rPr>
                              <m:t>𝜆</m:t>
                            </m:r>
                            <m:sSup>
                              <m:sSupPr>
                                <m:ctrlPr>
                                  <a:rPr lang="fr-CA"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fr-CA" b="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fr-CA" b="0" i="1" smtClean="0">
                                    <a:latin typeface="Cambria Math" panose="02040503050406030204" pitchFamily="18" charset="0"/>
                                    <a:ea typeface="Cambria Math" panose="02040503050406030204" pitchFamily="18" charset="0"/>
                                    <a:cs typeface="Times New Roman" panose="02020603050405020304" pitchFamily="18" charset="0"/>
                                  </a:rPr>
                                  <m:t>−</m:t>
                                </m:r>
                                <m:r>
                                  <a:rPr lang="fr-CA" b="0" i="1" smtClean="0">
                                    <a:latin typeface="Cambria Math" panose="02040503050406030204" pitchFamily="18" charset="0"/>
                                    <a:ea typeface="Cambria Math" panose="02040503050406030204" pitchFamily="18" charset="0"/>
                                    <a:cs typeface="Times New Roman" panose="02020603050405020304" pitchFamily="18" charset="0"/>
                                  </a:rPr>
                                  <m:t>𝜆</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𝑥</m:t>
                                </m:r>
                              </m:sup>
                            </m:sSup>
                            <m:r>
                              <a:rPr lang="fr-CA" b="0" i="1" smtClean="0">
                                <a:latin typeface="Cambria Math" panose="02040503050406030204" pitchFamily="18" charset="0"/>
                                <a:ea typeface="Cambria Math" panose="02040503050406030204" pitchFamily="18" charset="0"/>
                                <a:cs typeface="Times New Roman" panose="02020603050405020304" pitchFamily="18" charset="0"/>
                              </a:rPr>
                              <m:t>    </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𝑠𝑖</m:t>
                            </m:r>
                            <m:r>
                              <a:rPr lang="fr-CA" b="0" i="1" smtClean="0">
                                <a:latin typeface="Cambria Math" panose="02040503050406030204" pitchFamily="18" charset="0"/>
                                <a:ea typeface="Cambria Math" panose="02040503050406030204" pitchFamily="18" charset="0"/>
                                <a:cs typeface="Times New Roman" panose="02020603050405020304" pitchFamily="18" charset="0"/>
                              </a:rPr>
                              <m:t>         </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𝑥</m:t>
                            </m:r>
                            <m:r>
                              <a:rPr lang="fr-CA" b="0" i="1" smtClean="0">
                                <a:latin typeface="Cambria Math" panose="02040503050406030204" pitchFamily="18" charset="0"/>
                                <a:ea typeface="Cambria Math" panose="02040503050406030204" pitchFamily="18" charset="0"/>
                                <a:cs typeface="Times New Roman" panose="02020603050405020304" pitchFamily="18" charset="0"/>
                              </a:rPr>
                              <m:t>&gt;0</m:t>
                            </m:r>
                          </m:e>
                          <m:e>
                            <m:r>
                              <a:rPr lang="fr-CA" b="0" i="1" smtClean="0">
                                <a:latin typeface="Cambria Math" panose="02040503050406030204" pitchFamily="18" charset="0"/>
                                <a:ea typeface="Cambria Math" panose="02040503050406030204" pitchFamily="18" charset="0"/>
                                <a:cs typeface="Times New Roman" panose="02020603050405020304" pitchFamily="18" charset="0"/>
                              </a:rPr>
                              <m:t>0                               </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𝑠𝑖𝑛𝑜𝑛</m:t>
                            </m:r>
                          </m:e>
                        </m:eqArr>
                      </m:e>
                    </m:d>
                  </m:oMath>
                </a14:m>
                <a:endParaRPr lang="fr-CA" dirty="0"/>
              </a:p>
              <a:p>
                <a:endParaRPr lang="fr-CA" dirty="0"/>
              </a:p>
              <a:p>
                <a:r>
                  <a:rPr lang="fr-CA" dirty="0"/>
                  <a:t>On a aussi  </a:t>
                </a: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i="1">
                            <a:latin typeface="Cambria Math" panose="02040503050406030204" pitchFamily="18" charset="0"/>
                            <a:ea typeface="Cambria Math" panose="02040503050406030204" pitchFamily="18" charset="0"/>
                            <a:cs typeface="Times New Roman" panose="02020603050405020304" pitchFamily="18" charset="0"/>
                          </a:rPr>
                          <m:t>𝜆</m:t>
                        </m:r>
                      </m:den>
                    </m:f>
                  </m:oMath>
                </a14:m>
                <a:r>
                  <a:rPr lang="fr-CA" dirty="0"/>
                  <a:t>     ;  </a:t>
                </a:r>
                <a14:m>
                  <m:oMath xmlns:m="http://schemas.openxmlformats.org/officeDocument/2006/math">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sSup>
                          <m:sSupPr>
                            <m:ctrlPr>
                              <a:rPr lang="fr-CA" b="0" i="1" smtClean="0">
                                <a:latin typeface="Cambria Math" panose="02040503050406030204" pitchFamily="18" charset="0"/>
                              </a:rPr>
                            </m:ctrlPr>
                          </m:sSupPr>
                          <m:e>
                            <m:r>
                              <a:rPr lang="fr-CA" i="1">
                                <a:latin typeface="Cambria Math" panose="02040503050406030204" pitchFamily="18" charset="0"/>
                                <a:ea typeface="Cambria Math" panose="02040503050406030204" pitchFamily="18" charset="0"/>
                                <a:cs typeface="Times New Roman" panose="02020603050405020304" pitchFamily="18" charset="0"/>
                              </a:rPr>
                              <m:t>𝜆</m:t>
                            </m:r>
                          </m:e>
                          <m:sup>
                            <m:r>
                              <a:rPr lang="fr-CA" b="0" i="1" smtClean="0">
                                <a:latin typeface="Cambria Math" panose="02040503050406030204" pitchFamily="18" charset="0"/>
                              </a:rPr>
                              <m:t>2</m:t>
                            </m:r>
                          </m:sup>
                        </m:sSup>
                        <m:r>
                          <a:rPr lang="fr-CA" b="0" i="1" smtClean="0">
                            <a:latin typeface="Cambria Math" panose="02040503050406030204" pitchFamily="18" charset="0"/>
                          </a:rPr>
                          <m:t>  </m:t>
                        </m:r>
                      </m:den>
                    </m:f>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𝑒</m:t>
                        </m:r>
                      </m:e>
                      <m:sup>
                        <m:r>
                          <a:rPr lang="fr-CA" b="0" i="1" smtClean="0">
                            <a:latin typeface="Cambria Math" panose="02040503050406030204" pitchFamily="18" charset="0"/>
                            <a:ea typeface="Cambria Math" panose="02040503050406030204" pitchFamily="18" charset="0"/>
                          </a:rPr>
                          <m:t>−</m:t>
                        </m:r>
                        <m:r>
                          <a:rPr lang="fr-CA" i="1">
                            <a:latin typeface="Cambria Math" panose="02040503050406030204" pitchFamily="18" charset="0"/>
                            <a:ea typeface="Cambria Math" panose="02040503050406030204" pitchFamily="18" charset="0"/>
                            <a:cs typeface="Times New Roman" panose="02020603050405020304" pitchFamily="18" charset="0"/>
                          </a:rPr>
                          <m:t>𝜆</m:t>
                        </m:r>
                        <m:r>
                          <a:rPr lang="fr-CA" b="0" i="1" smtClean="0">
                            <a:latin typeface="Cambria Math" panose="02040503050406030204" pitchFamily="18" charset="0"/>
                            <a:ea typeface="Cambria Math" panose="02040503050406030204" pitchFamily="18" charset="0"/>
                            <a:cs typeface="Times New Roman" panose="02020603050405020304" pitchFamily="18" charset="0"/>
                          </a:rPr>
                          <m:t>𝑎</m:t>
                        </m:r>
                      </m:sup>
                    </m:sSup>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𝑝𝑜𝑢𝑟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𝑡𝑜𝑢𝑡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 &gt;0</m:t>
                    </m:r>
                  </m:oMath>
                </a14:m>
                <a:r>
                  <a:rPr lang="fr-CA" dirty="0"/>
                  <a:t>   </a:t>
                </a:r>
                <a14:m>
                  <m:oMath xmlns:m="http://schemas.openxmlformats.org/officeDocument/2006/math">
                    <m:r>
                      <a:rPr lang="fr-CA" b="0" i="1" dirty="0" smtClean="0">
                        <a:latin typeface="Cambria Math" panose="02040503050406030204" pitchFamily="18" charset="0"/>
                      </a:rPr>
                      <m:t>𝑃</m:t>
                    </m:r>
                    <m:d>
                      <m:dPr>
                        <m:ctrlPr>
                          <a:rPr lang="fr-CA" b="0" i="1" dirty="0" smtClean="0">
                            <a:latin typeface="Cambria Math" panose="02040503050406030204" pitchFamily="18" charset="0"/>
                          </a:rPr>
                        </m:ctrlPr>
                      </m:dPr>
                      <m:e>
                        <m:r>
                          <a:rPr lang="fr-CA" b="0" i="1" dirty="0" smtClean="0">
                            <a:latin typeface="Cambria Math" panose="02040503050406030204" pitchFamily="18" charset="0"/>
                          </a:rPr>
                          <m:t>𝑋</m:t>
                        </m:r>
                        <m:r>
                          <a:rPr lang="fr-CA" b="0" i="1" dirty="0" smtClean="0">
                            <a:latin typeface="Cambria Math" panose="02040503050406030204" pitchFamily="18" charset="0"/>
                            <a:ea typeface="Cambria Math" panose="02040503050406030204" pitchFamily="18" charset="0"/>
                          </a:rPr>
                          <m:t>&gt;</m:t>
                        </m:r>
                        <m:r>
                          <a:rPr lang="fr-CA" b="0" i="1" dirty="0" smtClean="0">
                            <a:latin typeface="Cambria Math" panose="02040503050406030204" pitchFamily="18" charset="0"/>
                            <a:ea typeface="Cambria Math" panose="02040503050406030204" pitchFamily="18" charset="0"/>
                          </a:rPr>
                          <m:t>𝑏</m:t>
                        </m:r>
                      </m:e>
                      <m:e>
                        <m:r>
                          <a:rPr lang="fr-CA" b="0" i="1" dirty="0" smtClean="0">
                            <a:latin typeface="Cambria Math" panose="02040503050406030204" pitchFamily="18" charset="0"/>
                            <a:ea typeface="Cambria Math" panose="02040503050406030204" pitchFamily="18" charset="0"/>
                          </a:rPr>
                          <m:t>𝑋</m:t>
                        </m:r>
                        <m:r>
                          <a:rPr lang="fr-CA" b="0" i="1" dirty="0" smtClean="0">
                            <a:latin typeface="Cambria Math" panose="02040503050406030204" pitchFamily="18" charset="0"/>
                            <a:ea typeface="Cambria Math" panose="02040503050406030204" pitchFamily="18" charset="0"/>
                          </a:rPr>
                          <m:t>&gt;</m:t>
                        </m:r>
                        <m:r>
                          <a:rPr lang="fr-CA" b="0" i="1" dirty="0" smtClean="0">
                            <a:latin typeface="Cambria Math" panose="02040503050406030204" pitchFamily="18" charset="0"/>
                            <a:ea typeface="Cambria Math" panose="02040503050406030204" pitchFamily="18" charset="0"/>
                          </a:rPr>
                          <m:t>𝑎</m:t>
                        </m:r>
                      </m:e>
                    </m:d>
                    <m:r>
                      <a:rPr lang="fr-CA" b="0" i="1" dirty="0" smtClean="0">
                        <a:latin typeface="Cambria Math" panose="02040503050406030204" pitchFamily="18" charset="0"/>
                        <a:ea typeface="Cambria Math" panose="02040503050406030204" pitchFamily="18" charset="0"/>
                      </a:rPr>
                      <m:t>=</m:t>
                    </m:r>
                    <m:r>
                      <a:rPr lang="fr-CA" b="0" i="1" dirty="0" smtClean="0">
                        <a:latin typeface="Cambria Math" panose="02040503050406030204" pitchFamily="18" charset="0"/>
                        <a:ea typeface="Cambria Math" panose="02040503050406030204" pitchFamily="18" charset="0"/>
                      </a:rPr>
                      <m:t>𝑃</m:t>
                    </m:r>
                    <m:r>
                      <a:rPr lang="fr-CA" b="0" i="1" dirty="0" smtClean="0">
                        <a:latin typeface="Cambria Math" panose="02040503050406030204" pitchFamily="18" charset="0"/>
                        <a:ea typeface="Cambria Math" panose="02040503050406030204" pitchFamily="18" charset="0"/>
                      </a:rPr>
                      <m:t>(</m:t>
                    </m:r>
                    <m:r>
                      <a:rPr lang="fr-CA" b="0" i="1" dirty="0" smtClean="0">
                        <a:latin typeface="Cambria Math" panose="02040503050406030204" pitchFamily="18" charset="0"/>
                        <a:ea typeface="Cambria Math" panose="02040503050406030204" pitchFamily="18" charset="0"/>
                      </a:rPr>
                      <m:t>𝑋</m:t>
                    </m:r>
                    <m:r>
                      <a:rPr lang="fr-CA" b="0" i="1" dirty="0" smtClean="0">
                        <a:latin typeface="Cambria Math" panose="02040503050406030204" pitchFamily="18" charset="0"/>
                        <a:ea typeface="Cambria Math" panose="02040503050406030204" pitchFamily="18" charset="0"/>
                      </a:rPr>
                      <m:t>&gt;</m:t>
                    </m:r>
                    <m:r>
                      <a:rPr lang="fr-CA" b="0" i="1" dirty="0" smtClean="0">
                        <a:latin typeface="Cambria Math" panose="02040503050406030204" pitchFamily="18" charset="0"/>
                        <a:ea typeface="Cambria Math" panose="02040503050406030204" pitchFamily="18" charset="0"/>
                      </a:rPr>
                      <m:t>𝑏</m:t>
                    </m:r>
                    <m:r>
                      <a:rPr lang="fr-CA" b="0" i="1" dirty="0" smtClean="0">
                        <a:latin typeface="Cambria Math" panose="02040503050406030204" pitchFamily="18" charset="0"/>
                        <a:ea typeface="Cambria Math" panose="02040503050406030204" pitchFamily="18" charset="0"/>
                      </a:rPr>
                      <m:t>−</m:t>
                    </m:r>
                    <m:r>
                      <a:rPr lang="fr-CA" b="0" i="1" dirty="0" smtClean="0">
                        <a:latin typeface="Cambria Math" panose="02040503050406030204" pitchFamily="18" charset="0"/>
                        <a:ea typeface="Cambria Math" panose="02040503050406030204" pitchFamily="18" charset="0"/>
                      </a:rPr>
                      <m:t>𝑎</m:t>
                    </m:r>
                    <m:r>
                      <a:rPr lang="fr-CA" b="0" i="1" dirty="0" smtClean="0">
                        <a:latin typeface="Cambria Math" panose="02040503050406030204" pitchFamily="18" charset="0"/>
                        <a:ea typeface="Cambria Math" panose="02040503050406030204" pitchFamily="18" charset="0"/>
                      </a:rPr>
                      <m:t>)</m:t>
                    </m:r>
                  </m:oMath>
                </a14:m>
                <a:endParaRPr lang="fr-CA" dirty="0"/>
              </a:p>
            </p:txBody>
          </p:sp>
        </mc:Choice>
        <mc:Fallback xmlns="">
          <p:sp>
            <p:nvSpPr>
              <p:cNvPr id="5" name="ZoneTexte 4">
                <a:extLst>
                  <a:ext uri="{FF2B5EF4-FFF2-40B4-BE49-F238E27FC236}">
                    <a16:creationId xmlns:a16="http://schemas.microsoft.com/office/drawing/2014/main" id="{74CF08C7-78E1-4D83-A9F3-96ABD9B70463}"/>
                  </a:ext>
                </a:extLst>
              </p:cNvPr>
              <p:cNvSpPr txBox="1">
                <a:spLocks noRot="1" noChangeAspect="1" noMove="1" noResize="1" noEditPoints="1" noAdjustHandles="1" noChangeArrowheads="1" noChangeShapeType="1" noTextEdit="1"/>
              </p:cNvSpPr>
              <p:nvPr/>
            </p:nvSpPr>
            <p:spPr>
              <a:xfrm>
                <a:off x="339633" y="3683726"/>
                <a:ext cx="11852367" cy="2764796"/>
              </a:xfrm>
              <a:prstGeom prst="rect">
                <a:avLst/>
              </a:prstGeom>
              <a:blipFill>
                <a:blip r:embed="rId2"/>
                <a:stretch>
                  <a:fillRect l="-463" b="-441"/>
                </a:stretch>
              </a:blipFill>
            </p:spPr>
            <p:txBody>
              <a:bodyPr/>
              <a:lstStyle/>
              <a:p>
                <a:r>
                  <a:rPr lang="fr-CA">
                    <a:noFill/>
                  </a:rPr>
                  <a:t> </a:t>
                </a:r>
              </a:p>
            </p:txBody>
          </p:sp>
        </mc:Fallback>
      </mc:AlternateContent>
      <p:pic>
        <p:nvPicPr>
          <p:cNvPr id="6" name="Picture 9">
            <a:extLst>
              <a:ext uri="{FF2B5EF4-FFF2-40B4-BE49-F238E27FC236}">
                <a16:creationId xmlns:a16="http://schemas.microsoft.com/office/drawing/2014/main" id="{1A8950A3-2F3C-45DA-BD6C-C9B2D89B6D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487165"/>
            <a:ext cx="10058399" cy="2561272"/>
          </a:xfrm>
          <a:prstGeom prst="rect">
            <a:avLst/>
          </a:prstGeom>
          <a:noFill/>
          <a:ln>
            <a:noFill/>
          </a:ln>
        </p:spPr>
      </p:pic>
    </p:spTree>
    <p:extLst>
      <p:ext uri="{BB962C8B-B14F-4D97-AF65-F5344CB8AC3E}">
        <p14:creationId xmlns:p14="http://schemas.microsoft.com/office/powerpoint/2010/main" val="1071375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29EB73-96AB-4002-A846-B50B5F88B6B0}"/>
              </a:ext>
            </a:extLst>
          </p:cNvPr>
          <p:cNvSpPr>
            <a:spLocks noGrp="1"/>
          </p:cNvSpPr>
          <p:nvPr>
            <p:ph type="title"/>
          </p:nvPr>
        </p:nvSpPr>
        <p:spPr>
          <a:xfrm>
            <a:off x="838199" y="-130629"/>
            <a:ext cx="10853057" cy="2717075"/>
          </a:xfrm>
        </p:spPr>
        <p:txBody>
          <a:bodyPr>
            <a:normAutofit/>
          </a:bodyPr>
          <a:lstStyle/>
          <a:p>
            <a:pPr marL="76200">
              <a:lnSpc>
                <a:spcPct val="150000"/>
              </a:lnSpc>
              <a:spcAft>
                <a:spcPts val="800"/>
              </a:spcAft>
            </a:pPr>
            <a:r>
              <a:rPr lang="fr-CA" sz="1800" b="1" dirty="0">
                <a:solidFill>
                  <a:srgbClr val="000000"/>
                </a:solidFill>
                <a:effectLst/>
                <a:latin typeface="Times New Roman" panose="02020603050405020304" pitchFamily="18" charset="0"/>
                <a:ea typeface="Times New Roman" panose="02020603050405020304" pitchFamily="18" charset="0"/>
              </a:rPr>
              <a:t>REMARQUE</a:t>
            </a:r>
            <a:br>
              <a:rPr lang="fr-CA" sz="1800" dirty="0">
                <a:solidFill>
                  <a:srgbClr val="000000"/>
                </a:solidFill>
                <a:effectLst/>
                <a:latin typeface="Times New Roman" panose="02020603050405020304" pitchFamily="18" charset="0"/>
                <a:ea typeface="Times New Roman" panose="02020603050405020304" pitchFamily="18" charset="0"/>
              </a:rPr>
            </a:br>
            <a:r>
              <a:rPr lang="fr-CA" sz="1800" dirty="0">
                <a:solidFill>
                  <a:srgbClr val="000000"/>
                </a:solidFill>
                <a:effectLst/>
                <a:latin typeface="Times New Roman" panose="02020603050405020304" pitchFamily="18" charset="0"/>
                <a:ea typeface="Times New Roman" panose="02020603050405020304" pitchFamily="18" charset="0"/>
              </a:rPr>
              <a:t>La loi exponentielle est d’une grande importance pour les étudiants en génie électrique, informatique ou civil, car elle est couramment utilisée dans l’étude de la fatigue des instruments et dans la modélisation de la durée de vie de tout système avec partage de ressources.</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3C3BDA7A-D0C6-4E3B-8D66-094C2AFF617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D13FF35-3D7F-4182-BAB7-D4A74D8AC50A}"/>
              </a:ext>
            </a:extLst>
          </p:cNvPr>
          <p:cNvSpPr>
            <a:spLocks noGrp="1"/>
          </p:cNvSpPr>
          <p:nvPr>
            <p:ph type="sldNum" sz="quarter" idx="12"/>
          </p:nvPr>
        </p:nvSpPr>
        <p:spPr/>
        <p:txBody>
          <a:bodyPr/>
          <a:lstStyle/>
          <a:p>
            <a:fld id="{26377AD9-CE17-438C-A638-C64D2D42D7CF}" type="slidenum">
              <a:rPr lang="fr-CA" smtClean="0"/>
              <a:t>5</a:t>
            </a:fld>
            <a:endParaRPr lang="fr-CA"/>
          </a:p>
        </p:txBody>
      </p:sp>
      <mc:AlternateContent xmlns:mc="http://schemas.openxmlformats.org/markup-compatibility/2006">
        <mc:Choice xmlns:a14="http://schemas.microsoft.com/office/drawing/2010/main" Requires="a14">
          <p:sp>
            <p:nvSpPr>
              <p:cNvPr id="5" name="ZoneTexte 4">
                <a:extLst>
                  <a:ext uri="{FF2B5EF4-FFF2-40B4-BE49-F238E27FC236}">
                    <a16:creationId xmlns:a16="http://schemas.microsoft.com/office/drawing/2014/main" id="{597DFB33-4AF4-4AA3-A5E1-DB36A2C9E491}"/>
                  </a:ext>
                </a:extLst>
              </p:cNvPr>
              <p:cNvSpPr txBox="1"/>
              <p:nvPr/>
            </p:nvSpPr>
            <p:spPr>
              <a:xfrm>
                <a:off x="339634" y="1750423"/>
                <a:ext cx="11508377" cy="519379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spcAft>
                    <a:spcPts val="600"/>
                  </a:spcAft>
                  <a:tabLst>
                    <a:tab pos="501650" algn="l"/>
                    <a:tab pos="449580" algn="l"/>
                  </a:tabLst>
                </a:pPr>
                <a:r>
                  <a:rPr lang="fr-CA" b="1" dirty="0"/>
                  <a:t>Exemple 1: </a:t>
                </a: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Le nombre de kilomètres qu’un type de pneu supporte, est modélisé sous forme d’une loi exponentielle de moyenne 40 000 km. On choisit un pneu au hasard de cette marque, déterminer les probabilités que ce pneu dure :</a:t>
                </a:r>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marL="342900" lvl="0" indent="-342900">
                  <a:lnSpc>
                    <a:spcPct val="150000"/>
                  </a:lnSpc>
                  <a:spcAft>
                    <a:spcPts val="600"/>
                  </a:spcAft>
                  <a:buFont typeface="+mj-lt"/>
                  <a:buAutoNum type="alphaLcParenBoth"/>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Au moins 20 000 km.</a:t>
                </a:r>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marL="342900" lvl="0" indent="-342900">
                  <a:lnSpc>
                    <a:spcPct val="150000"/>
                  </a:lnSpc>
                  <a:spcAft>
                    <a:spcPts val="600"/>
                  </a:spcAft>
                  <a:buFont typeface="+mj-lt"/>
                  <a:buAutoNum type="alphaLcParenBoth"/>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Au plus 50 000 km.</a:t>
                </a:r>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a:lnSpc>
                    <a:spcPct val="150000"/>
                  </a:lnSpc>
                  <a:spcAft>
                    <a:spcPts val="600"/>
                  </a:spcAft>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Réponse :  Soit X, le nombre de km parcouru durant la durée de vie d’un pneu. Cette variable est exponentielle de moyenne </a:t>
                </a:r>
                <a14:m>
                  <m:oMath xmlns:m="http://schemas.openxmlformats.org/officeDocument/2006/math">
                    <m:sSub>
                      <m:sSub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b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𝝁</m:t>
                        </m:r>
                      </m:e>
                      <m:sub>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𝑿</m:t>
                        </m:r>
                      </m:sub>
                    </m:sSub>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𝟒𝟎𝟎𝟎𝟎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f>
                      <m:f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𝝀</m:t>
                        </m:r>
                      </m:den>
                    </m:f>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𝝀</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f>
                      <m:f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𝟒𝟎𝟎𝟎𝟎</m:t>
                        </m:r>
                      </m:den>
                    </m:f>
                  </m:oMath>
                </a14:m>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marL="342900" lvl="0" indent="-342900">
                  <a:lnSpc>
                    <a:spcPct val="150000"/>
                  </a:lnSpc>
                  <a:spcAft>
                    <a:spcPts val="600"/>
                  </a:spcAft>
                  <a:buFont typeface="+mj-lt"/>
                  <a:buAutoNum type="alphaLcParenBoth"/>
                  <a:tabLst>
                    <a:tab pos="501650" algn="l"/>
                    <a:tab pos="449580" algn="l"/>
                  </a:tabLst>
                </a:pPr>
                <a14:m>
                  <m:oMath xmlns:m="http://schemas.openxmlformats.org/officeDocument/2006/math">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𝑷</m:t>
                    </m:r>
                    <m:d>
                      <m:d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d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𝑿</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&gt;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𝟐𝟎𝟎𝟎𝟎</m:t>
                        </m:r>
                      </m:e>
                    </m:d>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p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𝒆</m:t>
                        </m:r>
                      </m:e>
                      <m: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𝟐𝟎𝟎𝟎𝟎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𝝀</m:t>
                        </m:r>
                      </m:sup>
                    </m:s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p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𝒆</m:t>
                        </m:r>
                      </m:e>
                      <m: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f>
                          <m:f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num>
                          <m:den>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𝟐</m:t>
                            </m:r>
                          </m:den>
                        </m:f>
                      </m:sup>
                    </m:s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𝟔𝟎𝟔𝟓</m:t>
                    </m:r>
                  </m:oMath>
                </a14:m>
                <a:endParaRPr lang="fr-CA" sz="1400" dirty="0">
                  <a:solidFill>
                    <a:schemeClr val="tx1"/>
                  </a:solidFill>
                  <a:uFill>
                    <a:solidFill>
                      <a:srgbClr val="000000"/>
                    </a:solidFill>
                  </a:uFill>
                  <a:latin typeface="HelveticaNeueLT Std Cn"/>
                  <a:ea typeface="Times New Roman" panose="02020603050405020304" pitchFamily="18" charset="0"/>
                  <a:cs typeface="HelveticaNeueLT Std Cn"/>
                </a:endParaRPr>
              </a:p>
              <a:p>
                <a:pPr marL="342900" lvl="0" indent="-342900">
                  <a:lnSpc>
                    <a:spcPct val="150000"/>
                  </a:lnSpc>
                  <a:spcAft>
                    <a:spcPts val="600"/>
                  </a:spcAft>
                  <a:buFont typeface="+mj-lt"/>
                  <a:buAutoNum type="alphaLcParenBoth"/>
                  <a:tabLst>
                    <a:tab pos="501650" algn="l"/>
                    <a:tab pos="449580" algn="l"/>
                  </a:tabLst>
                </a:pPr>
                <a14:m>
                  <m:oMath xmlns:m="http://schemas.openxmlformats.org/officeDocument/2006/math">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𝑷</m:t>
                    </m:r>
                    <m:d>
                      <m:d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d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𝑿</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&lt;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𝟓𝟎𝟎𝟎𝟎</m:t>
                        </m:r>
                      </m:e>
                    </m:d>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p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𝒆</m:t>
                        </m:r>
                      </m:e>
                      <m: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𝟓𝟎𝟎𝟎𝟎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𝝀</m:t>
                        </m:r>
                      </m:sup>
                    </m:s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𝟏</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sSupPr>
                      <m:e>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𝒆</m:t>
                        </m:r>
                      </m:e>
                      <m: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f>
                          <m:fPr>
                            <m:ctrlPr>
                              <a:rPr lang="fr-CA"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ctrlPr>
                          </m:fPr>
                          <m:num>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𝟓</m:t>
                            </m:r>
                          </m:num>
                          <m:den>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𝟒</m:t>
                            </m:r>
                          </m:den>
                        </m:f>
                      </m:sup>
                    </m:sSup>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𝟎</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m:t>
                    </m:r>
                    <m:r>
                      <a:rPr lang="fr-FR" sz="1400" i="1">
                        <a:solidFill>
                          <a:schemeClr val="tx1"/>
                        </a:solidFill>
                        <a:uFill>
                          <a:solidFill>
                            <a:srgbClr val="000000"/>
                          </a:solidFill>
                        </a:uFill>
                        <a:latin typeface="Cambria Math" panose="02040503050406030204" pitchFamily="18" charset="0"/>
                        <a:ea typeface="Times New Roman" panose="02020603050405020304" pitchFamily="18" charset="0"/>
                        <a:cs typeface="Times New Roman" panose="02020603050405020304" pitchFamily="18" charset="0"/>
                      </a:rPr>
                      <m:t>𝟕𝟏𝟑𝟓</m:t>
                    </m:r>
                  </m:oMath>
                </a14:m>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 </a:t>
                </a:r>
              </a:p>
              <a:p>
                <a:pPr lvl="0">
                  <a:lnSpc>
                    <a:spcPct val="150000"/>
                  </a:lnSpc>
                  <a:spcAft>
                    <a:spcPts val="600"/>
                  </a:spcAft>
                  <a:tabLst>
                    <a:tab pos="501650" algn="l"/>
                    <a:tab pos="449580" algn="l"/>
                  </a:tabLst>
                </a:pPr>
                <a:r>
                  <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rPr>
                  <a:t> </a:t>
                </a:r>
              </a:p>
              <a:p>
                <a:pPr lvl="0">
                  <a:lnSpc>
                    <a:spcPct val="150000"/>
                  </a:lnSpc>
                  <a:spcAft>
                    <a:spcPts val="600"/>
                  </a:spcAft>
                  <a:tabLst>
                    <a:tab pos="501650" algn="l"/>
                    <a:tab pos="449580" algn="l"/>
                  </a:tabLst>
                </a:pPr>
                <a:endPar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endParaRPr>
              </a:p>
              <a:p>
                <a:pPr lvl="0">
                  <a:lnSpc>
                    <a:spcPct val="150000"/>
                  </a:lnSpc>
                  <a:spcAft>
                    <a:spcPts val="600"/>
                  </a:spcAft>
                  <a:tabLst>
                    <a:tab pos="501650" algn="l"/>
                    <a:tab pos="449580" algn="l"/>
                  </a:tabLst>
                </a:pPr>
                <a:endParaRPr lang="fr-FR" sz="1400" dirty="0">
                  <a:solidFill>
                    <a:schemeClr val="tx1"/>
                  </a:solidFill>
                  <a:uFill>
                    <a:solidFill>
                      <a:srgbClr val="000000"/>
                    </a:solidFill>
                  </a:uFill>
                  <a:latin typeface="Times New Roman" panose="02020603050405020304" pitchFamily="18" charset="0"/>
                  <a:ea typeface="Times New Roman" panose="02020603050405020304" pitchFamily="18" charset="0"/>
                  <a:cs typeface="HelveticaNeueLT Std Cn"/>
                </a:endParaRPr>
              </a:p>
              <a:p>
                <a:pPr lvl="0">
                  <a:lnSpc>
                    <a:spcPct val="150000"/>
                  </a:lnSpc>
                  <a:spcAft>
                    <a:spcPts val="600"/>
                  </a:spcAft>
                  <a:tabLst>
                    <a:tab pos="501650" algn="l"/>
                    <a:tab pos="449580" algn="l"/>
                  </a:tabLst>
                </a:pPr>
                <a:endParaRPr lang="fr-CA" sz="1400" b="1" cap="all" dirty="0">
                  <a:solidFill>
                    <a:srgbClr val="000000"/>
                  </a:solidFill>
                  <a:effectLst/>
                  <a:uFill>
                    <a:solidFill>
                      <a:srgbClr val="000000"/>
                    </a:solidFill>
                  </a:uFill>
                  <a:latin typeface="HelveticaNeueLT Std Cn"/>
                  <a:ea typeface="Times New Roman" panose="02020603050405020304" pitchFamily="18" charset="0"/>
                  <a:cs typeface="HelveticaNeueLT Std Cn"/>
                </a:endParaRPr>
              </a:p>
              <a:p>
                <a:endParaRPr lang="fr-CA" b="1" dirty="0"/>
              </a:p>
            </p:txBody>
          </p:sp>
        </mc:Choice>
        <mc:Fallback>
          <p:sp>
            <p:nvSpPr>
              <p:cNvPr id="5" name="ZoneTexte 4">
                <a:extLst>
                  <a:ext uri="{FF2B5EF4-FFF2-40B4-BE49-F238E27FC236}">
                    <a16:creationId xmlns:a16="http://schemas.microsoft.com/office/drawing/2014/main" id="{597DFB33-4AF4-4AA3-A5E1-DB36A2C9E491}"/>
                  </a:ext>
                </a:extLst>
              </p:cNvPr>
              <p:cNvSpPr txBox="1">
                <a:spLocks noRot="1" noChangeAspect="1" noMove="1" noResize="1" noEditPoints="1" noAdjustHandles="1" noChangeArrowheads="1" noChangeShapeType="1" noTextEdit="1"/>
              </p:cNvSpPr>
              <p:nvPr/>
            </p:nvSpPr>
            <p:spPr>
              <a:xfrm>
                <a:off x="339634" y="1750423"/>
                <a:ext cx="11508377" cy="5193794"/>
              </a:xfrm>
              <a:prstGeom prst="rect">
                <a:avLst/>
              </a:prstGeom>
              <a:blipFill>
                <a:blip r:embed="rId2"/>
                <a:stretch>
                  <a:fillRect l="-423"/>
                </a:stretch>
              </a:blipFill>
            </p:spPr>
            <p:txBody>
              <a:bodyPr/>
              <a:lstStyle/>
              <a:p>
                <a:r>
                  <a:rPr lang="en-CA">
                    <a:noFill/>
                  </a:rPr>
                  <a:t> </a:t>
                </a:r>
              </a:p>
            </p:txBody>
          </p:sp>
        </mc:Fallback>
      </mc:AlternateContent>
    </p:spTree>
    <p:extLst>
      <p:ext uri="{BB962C8B-B14F-4D97-AF65-F5344CB8AC3E}">
        <p14:creationId xmlns:p14="http://schemas.microsoft.com/office/powerpoint/2010/main" val="3358025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6484D8-AB00-4E02-93BC-F03BF0662845}"/>
              </a:ext>
            </a:extLst>
          </p:cNvPr>
          <p:cNvSpPr>
            <a:spLocks noGrp="1"/>
          </p:cNvSpPr>
          <p:nvPr>
            <p:ph type="title"/>
          </p:nvPr>
        </p:nvSpPr>
        <p:spPr>
          <a:xfrm>
            <a:off x="352697" y="365125"/>
            <a:ext cx="11482252" cy="3063875"/>
          </a:xfrm>
        </p:spPr>
        <p:txBody>
          <a:bodyPr>
            <a:normAutofit fontScale="90000"/>
          </a:bodyPr>
          <a:lstStyle/>
          <a:p>
            <a:pPr algn="l">
              <a:lnSpc>
                <a:spcPct val="150000"/>
              </a:lnSpc>
              <a:spcAft>
                <a:spcPts val="800"/>
              </a:spcAft>
            </a:pPr>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Dans une certaine région, les accidents d’avion se produisent selon un processus de Poisson de moyenne </a:t>
            </a:r>
            <a:r>
              <a:rPr lang="fr-FR" sz="1800" i="1" dirty="0">
                <a:solidFill>
                  <a:srgbClr val="000000"/>
                </a:solidFill>
                <a:effectLst/>
                <a:latin typeface="Times New Roman" panose="02020603050405020304" pitchFamily="18" charset="0"/>
                <a:ea typeface="Times New Roman" panose="02020603050405020304" pitchFamily="18" charset="0"/>
              </a:rPr>
              <a:t>λ</a:t>
            </a: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dirty="0">
                <a:solidFill>
                  <a:srgbClr val="000000"/>
                </a:solidFill>
                <a:effectLst/>
                <a:latin typeface="Symbol (T1) Medium"/>
                <a:ea typeface="Times New Roman" panose="02020603050405020304" pitchFamily="18" charset="0"/>
              </a:rPr>
              <a:t>=</a:t>
            </a:r>
            <a:r>
              <a:rPr lang="fr-FR" sz="1800" dirty="0">
                <a:solidFill>
                  <a:srgbClr val="000000"/>
                </a:solidFill>
                <a:effectLst/>
                <a:latin typeface="Times New Roman" panose="02020603050405020304" pitchFamily="18" charset="0"/>
                <a:ea typeface="Times New Roman" panose="02020603050405020304" pitchFamily="18" charset="0"/>
              </a:rPr>
              <a:t> 2,5 accidents par année.</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Quelle est la probabilité que, durant une année, on observe au moins trois accidents d’avion dans cette région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Quelle est la probabilité que le temps qui séparera les deux prochains accidents d’avion dans cette région soit inférieur à quatre mois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c) Sachant qu’aucun accident n’a lieu durant les premiers 2 mois de l’année, quelle est la probabilité qu’aucun accident ne se produise durant les 4 premier mois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79496A11-AEB8-4A61-9CD9-652CD7CA3CC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E64C9E9-082A-48EF-AC43-CF3D51B71B1E}"/>
              </a:ext>
            </a:extLst>
          </p:cNvPr>
          <p:cNvSpPr>
            <a:spLocks noGrp="1"/>
          </p:cNvSpPr>
          <p:nvPr>
            <p:ph type="sldNum" sz="quarter" idx="12"/>
          </p:nvPr>
        </p:nvSpPr>
        <p:spPr/>
        <p:txBody>
          <a:bodyPr/>
          <a:lstStyle/>
          <a:p>
            <a:fld id="{26377AD9-CE17-438C-A638-C64D2D42D7CF}" type="slidenum">
              <a:rPr lang="fr-CA" smtClean="0"/>
              <a:t>6</a:t>
            </a:fld>
            <a:endParaRPr lang="fr-CA"/>
          </a:p>
        </p:txBody>
      </p:sp>
      <mc:AlternateContent xmlns:mc="http://schemas.openxmlformats.org/markup-compatibility/2006">
        <mc:Choice xmlns:a14="http://schemas.microsoft.com/office/drawing/2010/main" Requires="a14">
          <p:sp>
            <p:nvSpPr>
              <p:cNvPr id="5" name="ZoneTexte 4">
                <a:extLst>
                  <a:ext uri="{FF2B5EF4-FFF2-40B4-BE49-F238E27FC236}">
                    <a16:creationId xmlns:a16="http://schemas.microsoft.com/office/drawing/2014/main" id="{046726B9-4E4A-451E-8765-FB38A15F55CF}"/>
                  </a:ext>
                </a:extLst>
              </p:cNvPr>
              <p:cNvSpPr txBox="1"/>
              <p:nvPr/>
            </p:nvSpPr>
            <p:spPr>
              <a:xfrm>
                <a:off x="640080" y="3429000"/>
                <a:ext cx="10907486" cy="2284728"/>
              </a:xfrm>
              <a:prstGeom prst="rect">
                <a:avLst/>
              </a:prstGeom>
              <a:noFill/>
            </p:spPr>
            <p:txBody>
              <a:bodyPr wrap="square" rtlCol="0">
                <a:spAutoFit/>
              </a:bodyPr>
              <a:lstStyle/>
              <a:p>
                <a:r>
                  <a:rPr lang="fr-CA" b="1" dirty="0"/>
                  <a:t>Réponse:</a:t>
                </a:r>
                <a:r>
                  <a:rPr lang="fr-CA" dirty="0"/>
                  <a:t> </a:t>
                </a:r>
              </a:p>
              <a:p>
                <a:pPr marL="342900" indent="-342900">
                  <a:buAutoNum type="alphaLcParenBoth"/>
                </a:pPr>
                <a:r>
                  <a:rPr lang="fr-CA" dirty="0"/>
                  <a:t>Ici on s’intéresse à X= le nombre d’accidents, donc à une loi de Poisson.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≥3</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≤2</m:t>
                        </m:r>
                      </m:e>
                    </m:d>
                    <m:r>
                      <a:rPr lang="fr-CA" b="0" i="1" smtClean="0">
                        <a:latin typeface="Cambria Math" panose="02040503050406030204" pitchFamily="18" charset="0"/>
                        <a:ea typeface="Cambria Math" panose="02040503050406030204" pitchFamily="18" charset="0"/>
                      </a:rPr>
                      <m:t>    </m:t>
                    </m:r>
                  </m:oMath>
                </a14:m>
                <a:endParaRPr lang="fr-CA" b="0" dirty="0">
                  <a:ea typeface="Cambria Math" panose="02040503050406030204" pitchFamily="18" charset="0"/>
                </a:endParaRPr>
              </a:p>
              <a:p>
                <a:r>
                  <a:rPr lang="fr-CA" dirty="0"/>
                  <a:t> on obtient: 0.4561869</a:t>
                </a:r>
              </a:p>
              <a:p>
                <a:r>
                  <a:rPr lang="fr-CA" dirty="0"/>
                  <a:t>(b) Ici on s’intéresse au temps qui sépare deux accidents consécutifs donc à une loi exponentielle(Y).</a:t>
                </a:r>
              </a:p>
              <a:p>
                <a:r>
                  <a:rPr lang="fr-CA" dirty="0"/>
                  <a:t>On veut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𝑌</m:t>
                        </m:r>
                        <m:r>
                          <a:rPr lang="fr-CA" b="0" i="1" smtClean="0">
                            <a:latin typeface="Cambria Math" panose="02040503050406030204" pitchFamily="18" charset="0"/>
                            <a:ea typeface="Cambria Math" panose="02040503050406030204" pitchFamily="18" charset="0"/>
                          </a:rPr>
                          <m:t>&lt;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num>
                          <m:den>
                            <m:r>
                              <a:rPr lang="fr-CA" b="0" i="1" smtClean="0">
                                <a:latin typeface="Cambria Math" panose="02040503050406030204" pitchFamily="18" charset="0"/>
                                <a:ea typeface="Cambria Math" panose="02040503050406030204" pitchFamily="18" charset="0"/>
                              </a:rPr>
                              <m:t>3</m:t>
                            </m:r>
                          </m:den>
                        </m:f>
                      </m:e>
                    </m:d>
                    <m:r>
                      <a:rPr lang="fr-CA" b="0" i="1" smtClean="0">
                        <a:latin typeface="Cambria Math" panose="02040503050406030204" pitchFamily="18" charset="0"/>
                        <a:ea typeface="Cambria Math" panose="02040503050406030204" pitchFamily="18" charset="0"/>
                      </a:rPr>
                      <m:t>         </m:t>
                    </m:r>
                    <m:r>
                      <a:rPr lang="en-CA" b="0" i="1" smtClean="0">
                        <a:latin typeface="Cambria Math" panose="02040503050406030204" pitchFamily="18" charset="0"/>
                        <a:ea typeface="Cambria Math" panose="02040503050406030204" pitchFamily="18" charset="0"/>
                      </a:rPr>
                      <m:t> </m:t>
                    </m:r>
                  </m:oMath>
                </a14:m>
                <a:r>
                  <a:rPr lang="fr-CA" dirty="0"/>
                  <a:t>on obtient : 0.5654018</a:t>
                </a:r>
              </a:p>
              <a:p>
                <a:r>
                  <a:rPr lang="fr-CA" dirty="0"/>
                  <a:t>(c) </a:t>
                </a:r>
                <a14:m>
                  <m:oMath xmlns:m="http://schemas.openxmlformats.org/officeDocument/2006/math">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𝑌</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&gt;1/3|</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𝑌</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&gt;</m:t>
                    </m:r>
                    <m:f>
                      <m:fPr>
                        <m:ctrlPr>
                          <a:rPr lang="fr-CA" sz="1800" i="1">
                            <a:effectLst/>
                            <a:latin typeface="Cambria Math" panose="020405030504060302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6</m:t>
                        </m:r>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r>
                      <a:rPr lang="en-US" sz="1800" i="1">
                        <a:effectLst/>
                        <a:latin typeface="Cambria Math" panose="02040503050406030204" pitchFamily="18" charset="0"/>
                        <a:ea typeface="Calibri" panose="020F0502020204030204" pitchFamily="34" charset="0"/>
                        <a:cs typeface="Times New Roman" panose="02020603050405020304" pitchFamily="18" charset="0"/>
                      </a:rPr>
                      <m:t>&gt;1/3−1/6)=</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𝑃</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r>
                      <a:rPr lang="en-US" sz="1800" i="1">
                        <a:effectLst/>
                        <a:latin typeface="Cambria Math" panose="02040503050406030204" pitchFamily="18" charset="0"/>
                        <a:ea typeface="Calibri" panose="020F0502020204030204" pitchFamily="34" charset="0"/>
                        <a:cs typeface="Times New Roman" panose="02020603050405020304" pitchFamily="18" charset="0"/>
                      </a:rPr>
                      <m:t>&gt;1/6)=</m:t>
                    </m:r>
                    <m:sSup>
                      <m:sSupPr>
                        <m:ctrlPr>
                          <a:rPr lang="fr-CA"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−2,5/6</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=0,6592</m:t>
                    </m:r>
                  </m:oMath>
                </a14:m>
                <a:r>
                  <a:rPr lang="fr-CA" dirty="0"/>
                  <a:t> (Car la loi exponentielle n’a pas de mémoire).  </a:t>
                </a:r>
              </a:p>
            </p:txBody>
          </p:sp>
        </mc:Choice>
        <mc:Fallback>
          <p:sp>
            <p:nvSpPr>
              <p:cNvPr id="5" name="ZoneTexte 4">
                <a:extLst>
                  <a:ext uri="{FF2B5EF4-FFF2-40B4-BE49-F238E27FC236}">
                    <a16:creationId xmlns:a16="http://schemas.microsoft.com/office/drawing/2014/main" id="{046726B9-4E4A-451E-8765-FB38A15F55CF}"/>
                  </a:ext>
                </a:extLst>
              </p:cNvPr>
              <p:cNvSpPr txBox="1">
                <a:spLocks noRot="1" noChangeAspect="1" noMove="1" noResize="1" noEditPoints="1" noAdjustHandles="1" noChangeArrowheads="1" noChangeShapeType="1" noTextEdit="1"/>
              </p:cNvSpPr>
              <p:nvPr/>
            </p:nvSpPr>
            <p:spPr>
              <a:xfrm>
                <a:off x="640080" y="3429000"/>
                <a:ext cx="10907486" cy="2284728"/>
              </a:xfrm>
              <a:prstGeom prst="rect">
                <a:avLst/>
              </a:prstGeom>
              <a:blipFill>
                <a:blip r:embed="rId2"/>
                <a:stretch>
                  <a:fillRect l="-447" t="-1604" b="-3209"/>
                </a:stretch>
              </a:blipFill>
            </p:spPr>
            <p:txBody>
              <a:bodyPr/>
              <a:lstStyle/>
              <a:p>
                <a:r>
                  <a:rPr lang="en-CA">
                    <a:noFill/>
                  </a:rPr>
                  <a:t> </a:t>
                </a:r>
              </a:p>
            </p:txBody>
          </p:sp>
        </mc:Fallback>
      </mc:AlternateContent>
    </p:spTree>
    <p:extLst>
      <p:ext uri="{BB962C8B-B14F-4D97-AF65-F5344CB8AC3E}">
        <p14:creationId xmlns:p14="http://schemas.microsoft.com/office/powerpoint/2010/main" val="3034772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5D8F6-7448-4FBA-9D9B-90DE430AC271}"/>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b="1"/>
              <a:t>La Loi normale centrée et réduite</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C613830-C812-47D7-895B-3092707C0ACE}"/>
                  </a:ext>
                </a:extLst>
              </p:cNvPr>
              <p:cNvSpPr txBox="1"/>
              <p:nvPr/>
            </p:nvSpPr>
            <p:spPr>
              <a:xfrm>
                <a:off x="87364" y="2330505"/>
                <a:ext cx="5790922"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fr-CA" sz="2000" dirty="0"/>
                  <a:t>Une loi normale centrée et réduite est une variable aléatoire continue Z (qui peut prendre n’importe quelle valeur réelle grosso-modo entre -3 et 3) dont la moyenne est égale 0 (centrée) et dont la variance est égale à 1 (réduite</a:t>
                </a:r>
                <a:r>
                  <a:rPr lang="en-US" sz="2000" dirty="0"/>
                  <a:t>). </a:t>
                </a:r>
                <a:r>
                  <a:rPr lang="fr-CA" sz="2000" dirty="0"/>
                  <a:t>Vous avez dans votre livre (p.333-334) une table qui vous donne </a:t>
                </a:r>
                <a:endParaRPr lang="fr-CA" sz="2000" b="0" i="1" dirty="0">
                  <a:latin typeface="Cambria Math" panose="02040503050406030204" pitchFamily="18" charset="0"/>
                </a:endParaRPr>
              </a:p>
              <a:p>
                <a:pPr indent="-228600" defTabSz="914400">
                  <a:lnSpc>
                    <a:spcPct val="90000"/>
                  </a:lnSpc>
                  <a:spcAft>
                    <a:spcPts val="600"/>
                  </a:spcAft>
                  <a:buFont typeface="Arial" panose="020B0604020202020204" pitchFamily="34" charset="0"/>
                  <a:buChar char="•"/>
                </a:pPr>
                <a14:m>
                  <m:oMath xmlns:m="http://schemas.openxmlformats.org/officeDocument/2006/math">
                    <m:r>
                      <a:rPr lang="fr-CA" sz="2000" b="0" i="1" smtClean="0">
                        <a:latin typeface="Cambria Math" panose="02040503050406030204" pitchFamily="18" charset="0"/>
                        <a:ea typeface="Cambria Math" panose="02040503050406030204" pitchFamily="18" charset="0"/>
                      </a:rPr>
                      <m:t>𝜑</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r>
                          <a:rPr lang="fr-CA" sz="2000" b="0" i="1" smtClean="0">
                            <a:latin typeface="Cambria Math" panose="02040503050406030204" pitchFamily="18" charset="0"/>
                          </a:rPr>
                          <m:t>𝑍</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𝑝𝑜𝑢𝑟</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𝑡𝑜𝑢𝑡</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𝑎</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𝑟</m:t>
                    </m:r>
                    <m:r>
                      <a:rPr lang="fr-CA" sz="2000" b="0" i="1" smtClean="0">
                        <a:latin typeface="Cambria Math" panose="02040503050406030204" pitchFamily="18" charset="0"/>
                        <a:ea typeface="Cambria Math" panose="02040503050406030204" pitchFamily="18" charset="0"/>
                      </a:rPr>
                      <m:t>é</m:t>
                    </m:r>
                    <m:r>
                      <a:rPr lang="fr-CA" sz="2000" b="0" i="1" smtClean="0">
                        <a:latin typeface="Cambria Math" panose="02040503050406030204" pitchFamily="18" charset="0"/>
                        <a:ea typeface="Cambria Math" panose="02040503050406030204" pitchFamily="18" charset="0"/>
                      </a:rPr>
                      <m:t>𝑒𝑙</m:t>
                    </m:r>
                    <m:r>
                      <a:rPr lang="fr-CA" sz="2000" b="0" i="1" smtClean="0">
                        <a:latin typeface="Cambria Math" panose="02040503050406030204" pitchFamily="18" charset="0"/>
                        <a:ea typeface="Cambria Math" panose="02040503050406030204" pitchFamily="18" charset="0"/>
                      </a:rPr>
                      <m:t>.</m:t>
                    </m:r>
                  </m:oMath>
                </a14:m>
                <a:endParaRPr lang="en-US" sz="2000" dirty="0"/>
              </a:p>
              <a:p>
                <a:pPr indent="-228600" defTabSz="914400">
                  <a:lnSpc>
                    <a:spcPct val="90000"/>
                  </a:lnSpc>
                  <a:spcAft>
                    <a:spcPts val="600"/>
                  </a:spcAft>
                  <a:buFont typeface="Arial" panose="020B0604020202020204" pitchFamily="34" charset="0"/>
                  <a:buChar char="•"/>
                </a:pPr>
                <a:r>
                  <a:rPr lang="en-US" sz="2000" dirty="0"/>
                  <a:t>Par </a:t>
                </a:r>
                <a:r>
                  <a:rPr lang="fr-CA" sz="2000" dirty="0"/>
                  <a:t>symétrie</a:t>
                </a:r>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𝜑</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=1−</m:t>
                    </m:r>
                    <m:r>
                      <a:rPr lang="fr-CA" sz="2000" b="0" i="1" smtClean="0">
                        <a:latin typeface="Cambria Math" panose="02040503050406030204" pitchFamily="18" charset="0"/>
                        <a:ea typeface="Cambria Math" panose="02040503050406030204" pitchFamily="18" charset="0"/>
                      </a:rPr>
                      <m:t>𝜑</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𝑝𝑜𝑢𝑟</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𝑡𝑜𝑢𝑡</m:t>
                    </m:r>
                    <m:r>
                      <a:rPr lang="fr-CA" sz="2000" b="0" i="1" smtClean="0">
                        <a:latin typeface="Cambria Math" panose="02040503050406030204" pitchFamily="18" charset="0"/>
                        <a:ea typeface="Cambria Math" panose="02040503050406030204" pitchFamily="18" charset="0"/>
                      </a:rPr>
                      <m:t> </m:t>
                    </m:r>
                    <m:r>
                      <a:rPr lang="fr-CA" sz="2000" b="0" i="1" smtClean="0">
                        <a:latin typeface="Cambria Math" panose="02040503050406030204" pitchFamily="18" charset="0"/>
                        <a:ea typeface="Cambria Math" panose="02040503050406030204" pitchFamily="18" charset="0"/>
                      </a:rPr>
                      <m:t>𝑎</m:t>
                    </m:r>
                  </m:oMath>
                </a14:m>
                <a:endParaRPr lang="en-US" sz="2000" dirty="0"/>
              </a:p>
              <a:p>
                <a:pPr indent="-228600" defTabSz="914400">
                  <a:lnSpc>
                    <a:spcPct val="90000"/>
                  </a:lnSpc>
                  <a:spcAft>
                    <a:spcPts val="600"/>
                  </a:spcAft>
                  <a:buFont typeface="Arial" panose="020B0604020202020204" pitchFamily="34" charset="0"/>
                  <a:buChar char="•"/>
                </a:pPr>
                <a14:m>
                  <m:oMath xmlns:m="http://schemas.openxmlformats.org/officeDocument/2006/math">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r>
                          <a:rPr lang="fr-CA" sz="2000" b="0" i="1" smtClean="0">
                            <a:latin typeface="Cambria Math" panose="02040503050406030204" pitchFamily="18" charset="0"/>
                          </a:rPr>
                          <m:t>𝑍</m:t>
                        </m:r>
                        <m:r>
                          <a:rPr lang="fr-CA" sz="2000" b="0" i="1" smtClean="0">
                            <a:latin typeface="Cambria Math" panose="02040503050406030204" pitchFamily="18" charset="0"/>
                          </a:rPr>
                          <m:t>=</m:t>
                        </m:r>
                        <m:r>
                          <a:rPr lang="fr-CA" sz="2000" b="0" i="1" smtClean="0">
                            <a:latin typeface="Cambria Math" panose="02040503050406030204" pitchFamily="18" charset="0"/>
                          </a:rPr>
                          <m:t>𝑎</m:t>
                        </m:r>
                      </m:e>
                    </m:d>
                    <m:r>
                      <a:rPr lang="fr-CA" sz="2000" b="0" i="1" smtClean="0">
                        <a:latin typeface="Cambria Math" panose="02040503050406030204" pitchFamily="18" charset="0"/>
                      </a:rPr>
                      <m:t>=0   </m:t>
                    </m:r>
                    <m:r>
                      <a:rPr lang="fr-CA" sz="2000" b="0" i="1" smtClean="0">
                        <a:latin typeface="Cambria Math" panose="02040503050406030204" pitchFamily="18" charset="0"/>
                      </a:rPr>
                      <m:t>𝑝𝑜𝑢𝑟</m:t>
                    </m:r>
                    <m:r>
                      <a:rPr lang="fr-CA" sz="2000" b="0" i="1" smtClean="0">
                        <a:latin typeface="Cambria Math" panose="02040503050406030204" pitchFamily="18" charset="0"/>
                      </a:rPr>
                      <m:t> </m:t>
                    </m:r>
                    <m:r>
                      <a:rPr lang="fr-CA" sz="2000" b="0" i="1" smtClean="0">
                        <a:latin typeface="Cambria Math" panose="02040503050406030204" pitchFamily="18" charset="0"/>
                      </a:rPr>
                      <m:t>𝑡𝑜𝑢𝑡</m:t>
                    </m:r>
                    <m:r>
                      <a:rPr lang="fr-CA" sz="2000" b="0" i="1" smtClean="0">
                        <a:latin typeface="Cambria Math" panose="02040503050406030204" pitchFamily="18" charset="0"/>
                      </a:rPr>
                      <m:t> </m:t>
                    </m:r>
                    <m:r>
                      <a:rPr lang="fr-CA" sz="2000" b="0" i="1" smtClean="0">
                        <a:latin typeface="Cambria Math" panose="02040503050406030204" pitchFamily="18" charset="0"/>
                      </a:rPr>
                      <m:t>𝑟</m:t>
                    </m:r>
                    <m:r>
                      <a:rPr lang="fr-CA" sz="2000" b="0" i="1" smtClean="0">
                        <a:latin typeface="Cambria Math" panose="02040503050406030204" pitchFamily="18" charset="0"/>
                      </a:rPr>
                      <m:t>é</m:t>
                    </m:r>
                    <m:r>
                      <a:rPr lang="fr-CA" sz="2000" b="0" i="1" smtClean="0">
                        <a:latin typeface="Cambria Math" panose="02040503050406030204" pitchFamily="18" charset="0"/>
                      </a:rPr>
                      <m:t>𝑒𝑙</m:t>
                    </m:r>
                    <m:r>
                      <a:rPr lang="fr-CA" sz="2000" b="0" i="1" smtClean="0">
                        <a:latin typeface="Cambria Math" panose="02040503050406030204" pitchFamily="18" charset="0"/>
                      </a:rPr>
                      <m:t> </m:t>
                    </m:r>
                    <m:r>
                      <a:rPr lang="fr-CA" sz="2000" b="0" i="1" smtClean="0">
                        <a:latin typeface="Cambria Math" panose="02040503050406030204" pitchFamily="18" charset="0"/>
                      </a:rPr>
                      <m:t>𝑎</m:t>
                    </m:r>
                    <m:r>
                      <a:rPr lang="fr-CA" sz="2000" b="0" i="1" smtClean="0">
                        <a:latin typeface="Cambria Math" panose="02040503050406030204" pitchFamily="18" charset="0"/>
                      </a:rPr>
                      <m:t> </m:t>
                    </m:r>
                  </m:oMath>
                </a14:m>
                <a:endParaRPr lang="fr-CA" sz="2000" b="0" i="1" dirty="0">
                  <a:latin typeface="Cambria Math" panose="02040503050406030204" pitchFamily="18" charset="0"/>
                </a:endParaRPr>
              </a:p>
              <a:p>
                <a:pPr defTabSz="914400">
                  <a:lnSpc>
                    <a:spcPct val="90000"/>
                  </a:lnSpc>
                  <a:spcAft>
                    <a:spcPts val="600"/>
                  </a:spcAft>
                </a:pPr>
                <a14:m>
                  <m:oMathPara xmlns:m="http://schemas.openxmlformats.org/officeDocument/2006/math">
                    <m:oMathParaPr>
                      <m:jc m:val="centerGroup"/>
                    </m:oMathParaPr>
                    <m:oMath xmlns:m="http://schemas.openxmlformats.org/officeDocument/2006/math">
                      <m:r>
                        <a:rPr lang="fr-CA" sz="2000" b="0" i="1" smtClean="0">
                          <a:latin typeface="Cambria Math" panose="02040503050406030204" pitchFamily="18" charset="0"/>
                        </a:rPr>
                        <m:t>(</m:t>
                      </m:r>
                      <m:r>
                        <a:rPr lang="fr-CA" sz="2000" b="0" i="1" smtClean="0">
                          <a:latin typeface="Cambria Math" panose="02040503050406030204" pitchFamily="18" charset="0"/>
                        </a:rPr>
                        <m:t>𝑒𝑥𝑝𝑙𝑖𝑐𝑎𝑡𝑖𝑜𝑛</m:t>
                      </m:r>
                      <m:r>
                        <a:rPr lang="fr-CA" sz="2000" b="0" i="1" smtClean="0">
                          <a:latin typeface="Cambria Math" panose="02040503050406030204" pitchFamily="18" charset="0"/>
                        </a:rPr>
                        <m:t> </m:t>
                      </m:r>
                      <m:r>
                        <a:rPr lang="fr-CA" sz="2000" b="0" i="1" smtClean="0">
                          <a:latin typeface="Cambria Math" panose="02040503050406030204" pitchFamily="18" charset="0"/>
                        </a:rPr>
                        <m:t>𝑝𝑙𝑢𝑠</m:t>
                      </m:r>
                      <m:r>
                        <a:rPr lang="fr-CA" sz="2000" b="0" i="1" smtClean="0">
                          <a:latin typeface="Cambria Math" panose="02040503050406030204" pitchFamily="18" charset="0"/>
                        </a:rPr>
                        <m:t> </m:t>
                      </m:r>
                      <m:r>
                        <a:rPr lang="fr-CA" sz="2000" b="0" i="1" smtClean="0">
                          <a:latin typeface="Cambria Math" panose="02040503050406030204" pitchFamily="18" charset="0"/>
                        </a:rPr>
                        <m:t>𝑡𝑎𝑟𝑑</m:t>
                      </m:r>
                      <m:r>
                        <a:rPr lang="fr-CA" sz="2000" b="0" i="1" smtClean="0">
                          <a:latin typeface="Cambria Math" panose="02040503050406030204" pitchFamily="18" charset="0"/>
                        </a:rPr>
                        <m:t>)</m:t>
                      </m:r>
                    </m:oMath>
                  </m:oMathPara>
                </a14:m>
                <a:endParaRPr lang="fr-CA" sz="2000" b="0" dirty="0"/>
              </a:p>
              <a:p>
                <a:pPr indent="-228600" defTabSz="914400">
                  <a:lnSpc>
                    <a:spcPct val="90000"/>
                  </a:lnSpc>
                  <a:spcAft>
                    <a:spcPts val="600"/>
                  </a:spcAft>
                  <a:buFont typeface="Arial" panose="020B0604020202020204" pitchFamily="34" charset="0"/>
                  <a:buChar char="•"/>
                </a:pPr>
                <a14:m>
                  <m:oMath xmlns:m="http://schemas.openxmlformats.org/officeDocument/2006/math">
                    <m:r>
                      <a:rPr lang="fr-CA" sz="2000" b="0" i="1" smtClean="0">
                        <a:latin typeface="Cambria Math" panose="02040503050406030204" pitchFamily="18" charset="0"/>
                      </a:rPr>
                      <m:t>𝑃</m:t>
                    </m:r>
                    <m:d>
                      <m:dPr>
                        <m:ctrlPr>
                          <a:rPr lang="fr-CA" sz="2000" b="0" i="1" smtClean="0">
                            <a:latin typeface="Cambria Math" panose="02040503050406030204" pitchFamily="18" charset="0"/>
                          </a:rPr>
                        </m:ctrlPr>
                      </m:dPr>
                      <m:e>
                        <m:r>
                          <a:rPr lang="fr-CA" sz="2000" b="0" i="1" smtClean="0">
                            <a:latin typeface="Cambria Math" panose="02040503050406030204" pitchFamily="18" charset="0"/>
                          </a:rPr>
                          <m:t>𝑎</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𝑍</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𝑏</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𝑍</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𝑏</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𝑃</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𝑍</m:t>
                        </m:r>
                        <m:r>
                          <a:rPr lang="fr-CA" sz="2000" b="0" i="1" smtClean="0">
                            <a:latin typeface="Cambria Math" panose="02040503050406030204" pitchFamily="18" charset="0"/>
                            <a:ea typeface="Cambria Math" panose="02040503050406030204" pitchFamily="18" charset="0"/>
                          </a:rPr>
                          <m:t>&lt;</m:t>
                        </m:r>
                        <m:r>
                          <a:rPr lang="fr-CA" sz="2000" b="0" i="1" smtClean="0">
                            <a:latin typeface="Cambria Math" panose="02040503050406030204" pitchFamily="18" charset="0"/>
                            <a:ea typeface="Cambria Math" panose="02040503050406030204" pitchFamily="18" charset="0"/>
                          </a:rPr>
                          <m:t>𝑎</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𝜑</m:t>
                    </m:r>
                    <m:d>
                      <m:dPr>
                        <m:ctrlPr>
                          <a:rPr lang="fr-CA" sz="2000" b="0" i="1" smtClean="0">
                            <a:latin typeface="Cambria Math" panose="02040503050406030204" pitchFamily="18" charset="0"/>
                            <a:ea typeface="Cambria Math" panose="02040503050406030204" pitchFamily="18" charset="0"/>
                          </a:rPr>
                        </m:ctrlPr>
                      </m:dPr>
                      <m:e>
                        <m:r>
                          <a:rPr lang="fr-CA" sz="2000" b="0" i="1" smtClean="0">
                            <a:latin typeface="Cambria Math" panose="02040503050406030204" pitchFamily="18" charset="0"/>
                            <a:ea typeface="Cambria Math" panose="02040503050406030204" pitchFamily="18" charset="0"/>
                          </a:rPr>
                          <m:t>𝑏</m:t>
                        </m:r>
                      </m:e>
                    </m:d>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𝜑</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𝑎</m:t>
                    </m:r>
                    <m:r>
                      <a:rPr lang="fr-CA" sz="2000" b="0" i="1" smtClean="0">
                        <a:latin typeface="Cambria Math" panose="02040503050406030204" pitchFamily="18" charset="0"/>
                        <a:ea typeface="Cambria Math" panose="02040503050406030204" pitchFamily="18" charset="0"/>
                      </a:rPr>
                      <m:t>)</m:t>
                    </m:r>
                  </m:oMath>
                </a14:m>
                <a:endParaRPr lang="en-US" sz="2000" dirty="0"/>
              </a:p>
            </p:txBody>
          </p:sp>
        </mc:Choice>
        <mc:Fallback xmlns="">
          <p:sp>
            <p:nvSpPr>
              <p:cNvPr id="5" name="ZoneTexte 4">
                <a:extLst>
                  <a:ext uri="{FF2B5EF4-FFF2-40B4-BE49-F238E27FC236}">
                    <a16:creationId xmlns:a16="http://schemas.microsoft.com/office/drawing/2014/main" id="{BC613830-C812-47D7-895B-3092707C0ACE}"/>
                  </a:ext>
                </a:extLst>
              </p:cNvPr>
              <p:cNvSpPr txBox="1">
                <a:spLocks noRot="1" noChangeAspect="1" noMove="1" noResize="1" noEditPoints="1" noAdjustHandles="1" noChangeArrowheads="1" noChangeShapeType="1" noTextEdit="1"/>
              </p:cNvSpPr>
              <p:nvPr/>
            </p:nvSpPr>
            <p:spPr>
              <a:xfrm>
                <a:off x="87364" y="2330505"/>
                <a:ext cx="5790922" cy="3979585"/>
              </a:xfrm>
              <a:prstGeom prst="rect">
                <a:avLst/>
              </a:prstGeom>
              <a:blipFill>
                <a:blip r:embed="rId2"/>
                <a:stretch>
                  <a:fillRect l="-1053" r="-1579"/>
                </a:stretch>
              </a:blipFill>
            </p:spPr>
            <p:txBody>
              <a:bodyPr/>
              <a:lstStyle/>
              <a:p>
                <a:r>
                  <a:rPr lang="fr-CA">
                    <a:noFill/>
                  </a:rPr>
                  <a:t> </a:t>
                </a:r>
              </a:p>
            </p:txBody>
          </p:sp>
        </mc:Fallback>
      </mc:AlternateContent>
      <p:pic>
        <p:nvPicPr>
          <p:cNvPr id="8" name="Image 7">
            <a:extLst>
              <a:ext uri="{FF2B5EF4-FFF2-40B4-BE49-F238E27FC236}">
                <a16:creationId xmlns:a16="http://schemas.microsoft.com/office/drawing/2014/main" id="{237B9EFA-9DB3-40E8-9249-C6EF25326BC9}"/>
              </a:ext>
            </a:extLst>
          </p:cNvPr>
          <p:cNvPicPr>
            <a:picLocks noChangeAspect="1"/>
          </p:cNvPicPr>
          <p:nvPr/>
        </p:nvPicPr>
        <p:blipFill rotWithShape="1">
          <a:blip r:embed="rId3"/>
          <a:srcRect t="376" r="4" b="2446"/>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4B505D5A-C779-45CD-A14C-955DB2F99227}"/>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1FE1BCC3-1C3E-4D46-AB74-208D7F35A0D3}"/>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7</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465369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89CDF0-337D-4909-AA19-80E880EE720C}"/>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b="1"/>
              <a:t>La loi normale générale </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C92D800-32ED-4701-9CC7-826EC526CF53}"/>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fr-CA" sz="2000" dirty="0"/>
                  <a:t>X une variable normale continue est dite normale de moyenne </a:t>
                </a:r>
                <a14:m>
                  <m:oMath xmlns:m="http://schemas.openxmlformats.org/officeDocument/2006/math">
                    <m:sSub>
                      <m:sSubPr>
                        <m:ctrlPr>
                          <a:rPr lang="fr-CA" sz="2000" i="1">
                            <a:latin typeface="Cambria Math" panose="02040503050406030204" pitchFamily="18" charset="0"/>
                          </a:rPr>
                        </m:ctrlPr>
                      </m:sSubPr>
                      <m:e>
                        <m:r>
                          <a:rPr lang="fr-CA" sz="2000" i="1">
                            <a:latin typeface="Cambria Math" panose="02040503050406030204" pitchFamily="18" charset="0"/>
                          </a:rPr>
                          <m:t>𝜇</m:t>
                        </m:r>
                      </m:e>
                      <m:sub>
                        <m:r>
                          <a:rPr lang="fr-CA" sz="2000" b="0" i="1">
                            <a:latin typeface="Cambria Math" panose="02040503050406030204" pitchFamily="18" charset="0"/>
                          </a:rPr>
                          <m:t>𝑋</m:t>
                        </m:r>
                        <m:r>
                          <a:rPr lang="fr-CA" sz="2000" b="0" i="1">
                            <a:latin typeface="Cambria Math" panose="02040503050406030204" pitchFamily="18" charset="0"/>
                          </a:rPr>
                          <m:t>   </m:t>
                        </m:r>
                      </m:sub>
                    </m:sSub>
                  </m:oMath>
                </a14:m>
                <a:r>
                  <a:rPr lang="fr-CA" sz="2000" dirty="0"/>
                  <a:t>et de variance </a:t>
                </a:r>
                <a14:m>
                  <m:oMath xmlns:m="http://schemas.openxmlformats.org/officeDocument/2006/math">
                    <m:sSubSup>
                      <m:sSubSupPr>
                        <m:ctrlPr>
                          <a:rPr lang="fr-CA" sz="2000" i="1">
                            <a:latin typeface="Cambria Math" panose="02040503050406030204" pitchFamily="18" charset="0"/>
                          </a:rPr>
                        </m:ctrlPr>
                      </m:sSubSupPr>
                      <m:e>
                        <m:r>
                          <a:rPr lang="fr-CA" sz="2000" i="1">
                            <a:latin typeface="Cambria Math" panose="02040503050406030204" pitchFamily="18" charset="0"/>
                          </a:rPr>
                          <m:t>𝜎</m:t>
                        </m:r>
                      </m:e>
                      <m:sub>
                        <m:r>
                          <a:rPr lang="fr-CA" sz="2000" b="0" i="1">
                            <a:latin typeface="Cambria Math" panose="02040503050406030204" pitchFamily="18" charset="0"/>
                          </a:rPr>
                          <m:t>𝑋</m:t>
                        </m:r>
                      </m:sub>
                      <m:sup>
                        <m:r>
                          <a:rPr lang="fr-CA" sz="2000" b="0" i="1">
                            <a:latin typeface="Cambria Math" panose="02040503050406030204" pitchFamily="18" charset="0"/>
                          </a:rPr>
                          <m:t>2</m:t>
                        </m:r>
                      </m:sup>
                    </m:sSubSup>
                    <m:r>
                      <a:rPr lang="fr-CA" sz="2000" b="0" i="1">
                        <a:latin typeface="Cambria Math" panose="02040503050406030204" pitchFamily="18" charset="0"/>
                      </a:rPr>
                      <m:t>   </m:t>
                    </m:r>
                  </m:oMath>
                </a14:m>
                <a:r>
                  <a:rPr lang="fr-CA" sz="2000" dirty="0"/>
                  <a:t>si sa fonction densité des probabilités est de la forme en cloche (bosse du chameau). On la note:</a:t>
                </a:r>
              </a:p>
              <a:p>
                <a:pPr defTabSz="914400">
                  <a:lnSpc>
                    <a:spcPct val="90000"/>
                  </a:lnSpc>
                  <a:spcAft>
                    <a:spcPts val="600"/>
                  </a:spcAft>
                </a:pPr>
                <a14:m>
                  <m:oMath xmlns:m="http://schemas.openxmlformats.org/officeDocument/2006/math">
                    <m:r>
                      <a:rPr lang="fr-CA" sz="2000" b="0" i="1" smtClean="0">
                        <a:latin typeface="Cambria Math" panose="02040503050406030204" pitchFamily="18" charset="0"/>
                      </a:rPr>
                      <m:t>𝑋</m:t>
                    </m:r>
                    <m:r>
                      <a:rPr lang="fr-CA" sz="2000" b="0" i="1" smtClean="0">
                        <a:latin typeface="Cambria Math" panose="02040503050406030204" pitchFamily="18" charset="0"/>
                        <a:ea typeface="Cambria Math" panose="02040503050406030204" pitchFamily="18" charset="0"/>
                      </a:rPr>
                      <m:t>~</m:t>
                    </m:r>
                    <m:r>
                      <a:rPr lang="fr-CA" sz="2000" b="0" i="1" smtClean="0">
                        <a:latin typeface="Cambria Math" panose="02040503050406030204" pitchFamily="18" charset="0"/>
                        <a:ea typeface="Cambria Math" panose="02040503050406030204" pitchFamily="18" charset="0"/>
                      </a:rPr>
                      <m:t>𝒩</m:t>
                    </m:r>
                    <m:r>
                      <a:rPr lang="fr-CA" sz="2000" b="0" i="1" smtClean="0">
                        <a:latin typeface="Cambria Math" panose="02040503050406030204" pitchFamily="18" charset="0"/>
                        <a:ea typeface="Cambria Math" panose="02040503050406030204" pitchFamily="18" charset="0"/>
                      </a:rPr>
                      <m:t>(</m:t>
                    </m:r>
                    <m:sSub>
                      <m:sSubPr>
                        <m:ctrlPr>
                          <a:rPr lang="fr-CA" sz="2000" b="0" i="1" smtClean="0">
                            <a:latin typeface="Cambria Math" panose="02040503050406030204" pitchFamily="18" charset="0"/>
                            <a:ea typeface="Cambria Math" panose="02040503050406030204" pitchFamily="18" charset="0"/>
                          </a:rPr>
                        </m:ctrlPr>
                      </m:sSubPr>
                      <m:e>
                        <m:r>
                          <a:rPr lang="fr-CA" sz="2000" b="0" i="1" smtClean="0">
                            <a:latin typeface="Cambria Math" panose="02040503050406030204" pitchFamily="18" charset="0"/>
                            <a:ea typeface="Cambria Math" panose="02040503050406030204" pitchFamily="18" charset="0"/>
                          </a:rPr>
                          <m:t>𝜇</m:t>
                        </m:r>
                      </m:e>
                      <m:sub>
                        <m:r>
                          <a:rPr lang="fr-CA" sz="2000" b="0" i="1" smtClean="0">
                            <a:latin typeface="Cambria Math" panose="02040503050406030204" pitchFamily="18" charset="0"/>
                            <a:ea typeface="Cambria Math" panose="02040503050406030204" pitchFamily="18" charset="0"/>
                          </a:rPr>
                          <m:t>𝑋</m:t>
                        </m:r>
                      </m:sub>
                    </m:sSub>
                    <m:r>
                      <a:rPr lang="fr-CA" sz="2000" b="0" i="1" smtClean="0">
                        <a:latin typeface="Cambria Math" panose="02040503050406030204" pitchFamily="18" charset="0"/>
                        <a:ea typeface="Cambria Math" panose="02040503050406030204" pitchFamily="18" charset="0"/>
                      </a:rPr>
                      <m:t>; </m:t>
                    </m:r>
                    <m:sSubSup>
                      <m:sSubSupPr>
                        <m:ctrlPr>
                          <a:rPr lang="fr-CA" sz="2000" b="0" i="1" smtClean="0">
                            <a:latin typeface="Cambria Math" panose="02040503050406030204" pitchFamily="18" charset="0"/>
                            <a:ea typeface="Cambria Math" panose="02040503050406030204" pitchFamily="18" charset="0"/>
                          </a:rPr>
                        </m:ctrlPr>
                      </m:sSubSupPr>
                      <m:e>
                        <m:r>
                          <a:rPr lang="fr-CA" sz="2000" b="0" i="1" smtClean="0">
                            <a:latin typeface="Cambria Math" panose="02040503050406030204" pitchFamily="18" charset="0"/>
                            <a:ea typeface="Cambria Math" panose="02040503050406030204" pitchFamily="18" charset="0"/>
                          </a:rPr>
                          <m:t>𝜎</m:t>
                        </m:r>
                      </m:e>
                      <m:sub>
                        <m:r>
                          <a:rPr lang="fr-CA" sz="2000" b="0" i="1" smtClean="0">
                            <a:latin typeface="Cambria Math" panose="02040503050406030204" pitchFamily="18" charset="0"/>
                            <a:ea typeface="Cambria Math" panose="02040503050406030204" pitchFamily="18" charset="0"/>
                          </a:rPr>
                          <m:t>𝑋</m:t>
                        </m:r>
                      </m:sub>
                      <m:sup>
                        <m:r>
                          <a:rPr lang="fr-CA" sz="2000" b="0" i="1" smtClean="0">
                            <a:latin typeface="Cambria Math" panose="02040503050406030204" pitchFamily="18" charset="0"/>
                            <a:ea typeface="Cambria Math" panose="02040503050406030204" pitchFamily="18" charset="0"/>
                          </a:rPr>
                          <m:t>2</m:t>
                        </m:r>
                      </m:sup>
                    </m:sSubSup>
                    <m:r>
                      <a:rPr lang="fr-CA" sz="2000" b="0" i="1" smtClean="0">
                        <a:latin typeface="Cambria Math" panose="02040503050406030204" pitchFamily="18" charset="0"/>
                        <a:ea typeface="Cambria Math" panose="02040503050406030204" pitchFamily="18" charset="0"/>
                      </a:rPr>
                      <m:t>)</m:t>
                    </m:r>
                  </m:oMath>
                </a14:m>
                <a:r>
                  <a:rPr lang="fr-CA" sz="2000" dirty="0"/>
                  <a:t> Ci-contre une loi normale de moyenne 80 et de variance 25.</a:t>
                </a:r>
              </a:p>
              <a:p>
                <a:pPr marL="342900" indent="-342900" defTabSz="914400">
                  <a:lnSpc>
                    <a:spcPct val="90000"/>
                  </a:lnSpc>
                  <a:spcAft>
                    <a:spcPts val="600"/>
                  </a:spcAft>
                  <a:buFont typeface="Arial" panose="020B0604020202020204" pitchFamily="34" charset="0"/>
                  <a:buChar char="•"/>
                </a:pPr>
                <a:r>
                  <a:rPr lang="fr-CA" sz="2000" dirty="0"/>
                  <a:t>Toutes les variables de métabolisme de l’être vivant sont normalement distribuées (poids, taille, taux de sucre dans le sang,……..)</a:t>
                </a:r>
              </a:p>
            </p:txBody>
          </p:sp>
        </mc:Choice>
        <mc:Fallback xmlns="">
          <p:sp>
            <p:nvSpPr>
              <p:cNvPr id="5" name="ZoneTexte 4">
                <a:extLst>
                  <a:ext uri="{FF2B5EF4-FFF2-40B4-BE49-F238E27FC236}">
                    <a16:creationId xmlns:a16="http://schemas.microsoft.com/office/drawing/2014/main" id="{1C92D800-32ED-4701-9CC7-826EC526CF53}"/>
                  </a:ext>
                </a:extLst>
              </p:cNvPr>
              <p:cNvSpPr txBox="1">
                <a:spLocks noRot="1" noChangeAspect="1" noMove="1" noResize="1" noEditPoints="1" noAdjustHandles="1" noChangeArrowheads="1" noChangeShapeType="1" noTextEdit="1"/>
              </p:cNvSpPr>
              <p:nvPr/>
            </p:nvSpPr>
            <p:spPr>
              <a:xfrm>
                <a:off x="590719" y="2330505"/>
                <a:ext cx="4559425" cy="3979585"/>
              </a:xfrm>
              <a:prstGeom prst="rect">
                <a:avLst/>
              </a:prstGeom>
              <a:blipFill>
                <a:blip r:embed="rId2"/>
                <a:stretch>
                  <a:fillRect l="-1471" r="-936"/>
                </a:stretch>
              </a:blipFill>
            </p:spPr>
            <p:txBody>
              <a:bodyPr/>
              <a:lstStyle/>
              <a:p>
                <a:r>
                  <a:rPr lang="fr-CA">
                    <a:noFill/>
                  </a:rPr>
                  <a:t> </a:t>
                </a:r>
              </a:p>
            </p:txBody>
          </p:sp>
        </mc:Fallback>
      </mc:AlternateContent>
      <p:pic>
        <p:nvPicPr>
          <p:cNvPr id="7" name="Image 6">
            <a:extLst>
              <a:ext uri="{FF2B5EF4-FFF2-40B4-BE49-F238E27FC236}">
                <a16:creationId xmlns:a16="http://schemas.microsoft.com/office/drawing/2014/main" id="{A92BEA28-4D6A-4B18-BCB0-499C43923E9D}"/>
              </a:ext>
            </a:extLst>
          </p:cNvPr>
          <p:cNvPicPr>
            <a:picLocks noChangeAspect="1"/>
          </p:cNvPicPr>
          <p:nvPr/>
        </p:nvPicPr>
        <p:blipFill rotWithShape="1">
          <a:blip r:embed="rId3"/>
          <a:srcRect t="1259" r="4" b="1563"/>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E41CC5D3-52B2-4B6A-9992-AE294726E490}"/>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CD8824F7-5284-4DC0-A754-AD9A95477B21}"/>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8</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804324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69E83EF3-935D-4A48-A67B-0F4BDB628EE7}"/>
                  </a:ext>
                </a:extLst>
              </p:cNvPr>
              <p:cNvSpPr>
                <a:spLocks noGrp="1"/>
              </p:cNvSpPr>
              <p:nvPr>
                <p:ph type="title"/>
              </p:nvPr>
            </p:nvSpPr>
            <p:spPr>
              <a:xfrm>
                <a:off x="838200" y="365125"/>
                <a:ext cx="10515600" cy="2534829"/>
              </a:xfrm>
            </p:spPr>
            <p:txBody>
              <a:bodyPr>
                <a:normAutofit fontScale="90000"/>
              </a:bodyPr>
              <a:lstStyle/>
              <a:p>
                <a:r>
                  <a:rPr lang="fr-CA" b="1" dirty="0"/>
                  <a:t>Théorème:</a:t>
                </a:r>
                <a:r>
                  <a:rPr lang="fr-CA" dirty="0"/>
                  <a:t> Si </a:t>
                </a:r>
                <a14:m>
                  <m:oMath xmlns:m="http://schemas.openxmlformats.org/officeDocument/2006/math">
                    <m:r>
                      <a:rPr lang="fr-CA" sz="4400" b="0" i="1" smtClean="0">
                        <a:latin typeface="Cambria Math" panose="02040503050406030204" pitchFamily="18" charset="0"/>
                      </a:rPr>
                      <m:t>𝑋</m:t>
                    </m:r>
                    <m:r>
                      <a:rPr lang="fr-CA" sz="4400" b="0" i="1" smtClean="0">
                        <a:latin typeface="Cambria Math" panose="02040503050406030204" pitchFamily="18" charset="0"/>
                        <a:ea typeface="Cambria Math" panose="02040503050406030204" pitchFamily="18" charset="0"/>
                      </a:rPr>
                      <m:t>~</m:t>
                    </m:r>
                    <m:r>
                      <a:rPr lang="fr-CA" sz="4400" b="0" i="1" smtClean="0">
                        <a:latin typeface="Cambria Math" panose="02040503050406030204" pitchFamily="18" charset="0"/>
                        <a:ea typeface="Cambria Math" panose="02040503050406030204" pitchFamily="18" charset="0"/>
                      </a:rPr>
                      <m:t>𝒩</m:t>
                    </m:r>
                    <m:r>
                      <a:rPr lang="fr-CA" sz="4400" b="0" i="1" smtClean="0">
                        <a:latin typeface="Cambria Math" panose="02040503050406030204" pitchFamily="18" charset="0"/>
                        <a:ea typeface="Cambria Math" panose="02040503050406030204" pitchFamily="18" charset="0"/>
                      </a:rPr>
                      <m:t>(</m:t>
                    </m:r>
                    <m:sSub>
                      <m:sSubPr>
                        <m:ctrlPr>
                          <a:rPr lang="fr-CA" sz="4400" b="0" i="1" smtClean="0">
                            <a:latin typeface="Cambria Math" panose="02040503050406030204" pitchFamily="18" charset="0"/>
                            <a:ea typeface="Cambria Math" panose="02040503050406030204" pitchFamily="18" charset="0"/>
                          </a:rPr>
                        </m:ctrlPr>
                      </m:sSubPr>
                      <m:e>
                        <m:r>
                          <a:rPr lang="fr-CA" sz="4400" b="0" i="1" smtClean="0">
                            <a:latin typeface="Cambria Math" panose="02040503050406030204" pitchFamily="18" charset="0"/>
                            <a:ea typeface="Cambria Math" panose="02040503050406030204" pitchFamily="18" charset="0"/>
                          </a:rPr>
                          <m:t>𝜇</m:t>
                        </m:r>
                      </m:e>
                      <m:sub>
                        <m:r>
                          <a:rPr lang="fr-CA" sz="4400" b="0" i="1" smtClean="0">
                            <a:latin typeface="Cambria Math" panose="02040503050406030204" pitchFamily="18" charset="0"/>
                            <a:ea typeface="Cambria Math" panose="02040503050406030204" pitchFamily="18" charset="0"/>
                          </a:rPr>
                          <m:t>𝑋</m:t>
                        </m:r>
                      </m:sub>
                    </m:sSub>
                    <m:r>
                      <a:rPr lang="fr-CA" sz="4400" b="0" i="1" smtClean="0">
                        <a:latin typeface="Cambria Math" panose="02040503050406030204" pitchFamily="18" charset="0"/>
                        <a:ea typeface="Cambria Math" panose="02040503050406030204" pitchFamily="18" charset="0"/>
                      </a:rPr>
                      <m:t>; </m:t>
                    </m:r>
                    <m:sSubSup>
                      <m:sSubSupPr>
                        <m:ctrlPr>
                          <a:rPr lang="fr-CA" sz="4400" b="0" i="1" smtClean="0">
                            <a:latin typeface="Cambria Math" panose="02040503050406030204" pitchFamily="18" charset="0"/>
                            <a:ea typeface="Cambria Math" panose="02040503050406030204" pitchFamily="18" charset="0"/>
                          </a:rPr>
                        </m:ctrlPr>
                      </m:sSubSupPr>
                      <m:e>
                        <m:r>
                          <a:rPr lang="fr-CA" sz="4400" b="0" i="1" smtClean="0">
                            <a:latin typeface="Cambria Math" panose="02040503050406030204" pitchFamily="18" charset="0"/>
                            <a:ea typeface="Cambria Math" panose="02040503050406030204" pitchFamily="18" charset="0"/>
                          </a:rPr>
                          <m:t>𝜎</m:t>
                        </m:r>
                      </m:e>
                      <m:sub>
                        <m:r>
                          <a:rPr lang="fr-CA" sz="4400" b="0" i="1" smtClean="0">
                            <a:latin typeface="Cambria Math" panose="02040503050406030204" pitchFamily="18" charset="0"/>
                            <a:ea typeface="Cambria Math" panose="02040503050406030204" pitchFamily="18" charset="0"/>
                          </a:rPr>
                          <m:t>𝑋</m:t>
                        </m:r>
                      </m:sub>
                      <m:sup>
                        <m:r>
                          <a:rPr lang="fr-CA" sz="4400" b="0" i="1" smtClean="0">
                            <a:latin typeface="Cambria Math" panose="02040503050406030204" pitchFamily="18" charset="0"/>
                            <a:ea typeface="Cambria Math" panose="02040503050406030204" pitchFamily="18" charset="0"/>
                          </a:rPr>
                          <m:t>2</m:t>
                        </m:r>
                      </m:sup>
                    </m:sSubSup>
                    <m:r>
                      <a:rPr lang="fr-CA" sz="4400" b="0" i="1" smtClean="0">
                        <a:latin typeface="Cambria Math" panose="02040503050406030204" pitchFamily="18" charset="0"/>
                        <a:ea typeface="Cambria Math" panose="02040503050406030204" pitchFamily="18" charset="0"/>
                      </a:rPr>
                      <m:t>)</m:t>
                    </m:r>
                  </m:oMath>
                </a14:m>
                <a:r>
                  <a:rPr lang="fr-CA" dirty="0"/>
                  <a:t>  alors la variable</a:t>
                </a:r>
                <a:br>
                  <a:rPr lang="fr-CA" dirty="0"/>
                </a:br>
                <a14:m>
                  <m:oMath xmlns:m="http://schemas.openxmlformats.org/officeDocument/2006/math">
                    <m:r>
                      <a:rPr lang="fr-CA" b="0" i="1" smtClean="0">
                        <a:latin typeface="Cambria Math" panose="02040503050406030204" pitchFamily="18" charset="0"/>
                      </a:rPr>
                      <m:t>𝑍</m:t>
                    </m:r>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𝑋</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num>
                      <m:den>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Sub>
                      </m:den>
                    </m:f>
                    <m:r>
                      <a:rPr lang="fr-CA" b="0" i="1" smtClean="0">
                        <a:latin typeface="Cambria Math" panose="02040503050406030204" pitchFamily="18" charset="0"/>
                      </a:rPr>
                      <m:t>      </m:t>
                    </m:r>
                    <m:r>
                      <a:rPr lang="fr-CA" b="0" i="1" smtClean="0">
                        <a:latin typeface="Cambria Math" panose="02040503050406030204" pitchFamily="18" charset="0"/>
                      </a:rPr>
                      <m:t>𝑑𝑒𝑣𝑖𝑒𝑛𝑡</m:t>
                    </m:r>
                    <m:r>
                      <a:rPr lang="fr-CA" b="0" i="1" smtClean="0">
                        <a:latin typeface="Cambria Math" panose="02040503050406030204" pitchFamily="18" charset="0"/>
                      </a:rPr>
                      <m:t> </m:t>
                    </m:r>
                    <m:r>
                      <a:rPr lang="fr-CA" i="1">
                        <a:latin typeface="Cambria Math" panose="02040503050406030204" pitchFamily="18" charset="0"/>
                        <a:ea typeface="Cambria Math" panose="02040503050406030204" pitchFamily="18" charset="0"/>
                      </a:rPr>
                      <m:t>𝒩</m:t>
                    </m:r>
                    <m:r>
                      <a:rPr lang="fr-CA" i="1">
                        <a:latin typeface="Cambria Math" panose="02040503050406030204" pitchFamily="18" charset="0"/>
                        <a:ea typeface="Cambria Math" panose="02040503050406030204" pitchFamily="18" charset="0"/>
                      </a:rPr>
                      <m:t>(0;1)</m:t>
                    </m:r>
                  </m:oMath>
                </a14:m>
                <a:r>
                  <a:rPr lang="fr-CA" dirty="0"/>
                  <a:t> On dit qu’on a standardisé la variable X et alors on peut utiliser les tables des pages 333-334.</a:t>
                </a:r>
              </a:p>
            </p:txBody>
          </p:sp>
        </mc:Choice>
        <mc:Fallback xmlns="">
          <p:sp>
            <p:nvSpPr>
              <p:cNvPr id="2" name="Titre 1">
                <a:extLst>
                  <a:ext uri="{FF2B5EF4-FFF2-40B4-BE49-F238E27FC236}">
                    <a16:creationId xmlns:a16="http://schemas.microsoft.com/office/drawing/2014/main" id="{69E83EF3-935D-4A48-A67B-0F4BDB628EE7}"/>
                  </a:ext>
                </a:extLst>
              </p:cNvPr>
              <p:cNvSpPr>
                <a:spLocks noGrp="1" noRot="1" noChangeAspect="1" noMove="1" noResize="1" noEditPoints="1" noAdjustHandles="1" noChangeArrowheads="1" noChangeShapeType="1" noTextEdit="1"/>
              </p:cNvSpPr>
              <p:nvPr>
                <p:ph type="title"/>
              </p:nvPr>
            </p:nvSpPr>
            <p:spPr>
              <a:xfrm>
                <a:off x="838200" y="365125"/>
                <a:ext cx="10515600" cy="2534829"/>
              </a:xfrm>
              <a:blipFill>
                <a:blip r:embed="rId2"/>
                <a:stretch>
                  <a:fillRect l="-2087" t="-7452" b="-11298"/>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FE3F48D8-D11C-4F45-A8D8-4E4B969CEB2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14EF1A1-14EA-415A-BC3A-A2AB08005C41}"/>
              </a:ext>
            </a:extLst>
          </p:cNvPr>
          <p:cNvSpPr>
            <a:spLocks noGrp="1"/>
          </p:cNvSpPr>
          <p:nvPr>
            <p:ph type="sldNum" sz="quarter" idx="12"/>
          </p:nvPr>
        </p:nvSpPr>
        <p:spPr/>
        <p:txBody>
          <a:bodyPr/>
          <a:lstStyle/>
          <a:p>
            <a:fld id="{26377AD9-CE17-438C-A638-C64D2D42D7CF}" type="slidenum">
              <a:rPr lang="fr-CA" smtClean="0"/>
              <a:t>9</a:t>
            </a:fld>
            <a:endParaRPr lang="fr-CA"/>
          </a:p>
        </p:txBody>
      </p:sp>
      <mc:AlternateContent xmlns:mc="http://schemas.openxmlformats.org/markup-compatibility/2006">
        <mc:Choice xmlns:a14="http://schemas.microsoft.com/office/drawing/2010/main" Requires="a14">
          <p:sp>
            <p:nvSpPr>
              <p:cNvPr id="5" name="ZoneTexte 4">
                <a:extLst>
                  <a:ext uri="{FF2B5EF4-FFF2-40B4-BE49-F238E27FC236}">
                    <a16:creationId xmlns:a16="http://schemas.microsoft.com/office/drawing/2014/main" id="{AC1D59B4-5785-4506-8D11-F80F8F16A9EE}"/>
                  </a:ext>
                </a:extLst>
              </p:cNvPr>
              <p:cNvSpPr txBox="1"/>
              <p:nvPr/>
            </p:nvSpPr>
            <p:spPr>
              <a:xfrm>
                <a:off x="992777" y="3429000"/>
                <a:ext cx="10361023" cy="1200329"/>
              </a:xfrm>
              <a:prstGeom prst="rect">
                <a:avLst/>
              </a:prstGeom>
              <a:noFill/>
            </p:spPr>
            <p:txBody>
              <a:bodyPr wrap="square" rtlCol="0">
                <a:spAutoFit/>
              </a:bodyPr>
              <a:lstStyle/>
              <a:p>
                <a:r>
                  <a:rPr lang="fr-CA" dirty="0"/>
                  <a:t> </a:t>
                </a:r>
                <a:endParaRPr lang="fr-CA" b="0"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rPr>
                          <m:t>=</m:t>
                        </m:r>
                        <m:r>
                          <a:rPr lang="fr-CA" b="0" i="1" smtClean="0">
                            <a:latin typeface="Cambria Math" panose="02040503050406030204" pitchFamily="18" charset="0"/>
                          </a:rPr>
                          <m:t>𝑎</m:t>
                        </m:r>
                      </m:e>
                    </m:d>
                    <m:r>
                      <a:rPr lang="fr-CA" b="0" i="1" smtClean="0">
                        <a:latin typeface="Cambria Math" panose="02040503050406030204" pitchFamily="18" charset="0"/>
                      </a:rPr>
                      <m:t>=0</m:t>
                    </m:r>
                    <m:r>
                      <a:rPr lang="fr-CA" b="0" i="1" smtClean="0">
                        <a:latin typeface="Cambria Math" panose="02040503050406030204" pitchFamily="18" charset="0"/>
                      </a:rPr>
                      <m:t>‼‼‼‼</m:t>
                    </m:r>
                  </m:oMath>
                </a14:m>
                <a:endParaRPr lang="fr-CA" b="0" dirty="0"/>
              </a:p>
              <a:p>
                <a:pPr marL="285750" indent="-285750">
                  <a:buFont typeface="Arial" panose="020B0604020202020204" pitchFamily="34" charset="0"/>
                  <a:buChar char="•"/>
                </a:pPr>
                <a:endParaRPr lang="fr-CA" b="0" dirty="0"/>
              </a:p>
              <a:p>
                <a:pPr marL="285750" indent="-285750">
                  <a:buFont typeface="Arial" panose="020B0604020202020204" pitchFamily="34" charset="0"/>
                  <a:buChar char="•"/>
                </a:pPr>
                <a:endParaRPr lang="fr-CA" dirty="0"/>
              </a:p>
            </p:txBody>
          </p:sp>
        </mc:Choice>
        <mc:Fallback>
          <p:sp>
            <p:nvSpPr>
              <p:cNvPr id="5" name="ZoneTexte 4">
                <a:extLst>
                  <a:ext uri="{FF2B5EF4-FFF2-40B4-BE49-F238E27FC236}">
                    <a16:creationId xmlns:a16="http://schemas.microsoft.com/office/drawing/2014/main" id="{AC1D59B4-5785-4506-8D11-F80F8F16A9EE}"/>
                  </a:ext>
                </a:extLst>
              </p:cNvPr>
              <p:cNvSpPr txBox="1">
                <a:spLocks noRot="1" noChangeAspect="1" noMove="1" noResize="1" noEditPoints="1" noAdjustHandles="1" noChangeArrowheads="1" noChangeShapeType="1" noTextEdit="1"/>
              </p:cNvSpPr>
              <p:nvPr/>
            </p:nvSpPr>
            <p:spPr>
              <a:xfrm>
                <a:off x="992777" y="3429000"/>
                <a:ext cx="10361023" cy="1200329"/>
              </a:xfrm>
              <a:prstGeom prst="rect">
                <a:avLst/>
              </a:prstGeom>
              <a:blipFill>
                <a:blip r:embed="rId3"/>
                <a:stretch>
                  <a:fillRect l="-412"/>
                </a:stretch>
              </a:blipFill>
            </p:spPr>
            <p:txBody>
              <a:bodyPr/>
              <a:lstStyle/>
              <a:p>
                <a:r>
                  <a:rPr lang="en-CA">
                    <a:noFill/>
                  </a:rPr>
                  <a:t> </a:t>
                </a:r>
              </a:p>
            </p:txBody>
          </p:sp>
        </mc:Fallback>
      </mc:AlternateContent>
    </p:spTree>
    <p:extLst>
      <p:ext uri="{BB962C8B-B14F-4D97-AF65-F5344CB8AC3E}">
        <p14:creationId xmlns:p14="http://schemas.microsoft.com/office/powerpoint/2010/main" val="802956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158A7871-EC8E-4A9E-BAD9-138B5F173A85}"/>
                  </a:ext>
                </a:extLst>
              </p:cNvPr>
              <p:cNvSpPr>
                <a:spLocks noGrp="1"/>
              </p:cNvSpPr>
              <p:nvPr>
                <p:ph type="title"/>
              </p:nvPr>
            </p:nvSpPr>
            <p:spPr/>
            <p:txBody>
              <a:bodyPr>
                <a:normAutofit fontScale="90000"/>
              </a:bodyPr>
              <a:lstStyle/>
              <a:p>
                <a:r>
                  <a:rPr lang="fr-CA" b="1" dirty="0"/>
                  <a:t>Exemples:</a:t>
                </a:r>
                <a:r>
                  <a:rPr lang="fr-CA" dirty="0"/>
                  <a:t> Soit </a:t>
                </a:r>
                <a14:m>
                  <m:oMath xmlns:m="http://schemas.openxmlformats.org/officeDocument/2006/math">
                    <m:r>
                      <a:rPr lang="fr-CA" sz="4400" b="0" i="1" smtClean="0">
                        <a:latin typeface="Cambria Math" panose="02040503050406030204" pitchFamily="18" charset="0"/>
                      </a:rPr>
                      <m:t>𝑋</m:t>
                    </m:r>
                    <m:r>
                      <a:rPr lang="fr-CA" sz="4400" b="0" i="1" smtClean="0">
                        <a:latin typeface="Cambria Math" panose="02040503050406030204" pitchFamily="18" charset="0"/>
                        <a:ea typeface="Cambria Math" panose="02040503050406030204" pitchFamily="18" charset="0"/>
                      </a:rPr>
                      <m:t>~</m:t>
                    </m:r>
                    <m:r>
                      <a:rPr lang="fr-CA" sz="4400" b="0" i="1" smtClean="0">
                        <a:latin typeface="Cambria Math" panose="02040503050406030204" pitchFamily="18" charset="0"/>
                        <a:ea typeface="Cambria Math" panose="02040503050406030204" pitchFamily="18" charset="0"/>
                      </a:rPr>
                      <m:t>𝒩</m:t>
                    </m:r>
                    <m:r>
                      <a:rPr lang="fr-CA" sz="4400" b="0" i="1" smtClean="0">
                        <a:latin typeface="Cambria Math" panose="02040503050406030204" pitchFamily="18" charset="0"/>
                        <a:ea typeface="Cambria Math" panose="02040503050406030204" pitchFamily="18" charset="0"/>
                      </a:rPr>
                      <m:t>(70;36)</m:t>
                    </m:r>
                  </m:oMath>
                </a14:m>
                <a:r>
                  <a:rPr lang="fr-CA" dirty="0"/>
                  <a:t> donc la moyenne de X est 70 et son écart type est égal à 6.</a:t>
                </a:r>
              </a:p>
            </p:txBody>
          </p:sp>
        </mc:Choice>
        <mc:Fallback xmlns="">
          <p:sp>
            <p:nvSpPr>
              <p:cNvPr id="2" name="Titre 1">
                <a:extLst>
                  <a:ext uri="{FF2B5EF4-FFF2-40B4-BE49-F238E27FC236}">
                    <a16:creationId xmlns:a16="http://schemas.microsoft.com/office/drawing/2014/main" id="{158A7871-EC8E-4A9E-BAD9-138B5F173A85}"/>
                  </a:ext>
                </a:extLst>
              </p:cNvPr>
              <p:cNvSpPr>
                <a:spLocks noGrp="1" noRot="1" noChangeAspect="1" noMove="1" noResize="1" noEditPoints="1" noAdjustHandles="1" noChangeArrowheads="1" noChangeShapeType="1" noTextEdit="1"/>
              </p:cNvSpPr>
              <p:nvPr>
                <p:ph type="title"/>
              </p:nvPr>
            </p:nvSpPr>
            <p:spPr>
              <a:blipFill>
                <a:blip r:embed="rId2"/>
                <a:stretch>
                  <a:fillRect l="-2087" t="-7834" r="-2203" b="-14747"/>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650ADA27-7E4A-40B0-832D-2C0D0B12891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7E3968E-6B50-4CF9-9009-F2397D7DF5C1}"/>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93BAA35-3010-4C4E-8D46-F3A560E43594}"/>
                  </a:ext>
                </a:extLst>
              </p:cNvPr>
              <p:cNvSpPr txBox="1"/>
              <p:nvPr/>
            </p:nvSpPr>
            <p:spPr>
              <a:xfrm>
                <a:off x="888274" y="2155371"/>
                <a:ext cx="10685417" cy="3970318"/>
              </a:xfrm>
              <a:prstGeom prst="rect">
                <a:avLst/>
              </a:prstGeom>
              <a:noFill/>
            </p:spPr>
            <p:txBody>
              <a:bodyPr wrap="square" rtlCol="0">
                <a:spAutoFit/>
              </a:bodyPr>
              <a:lstStyle/>
              <a:p>
                <a:r>
                  <a:rPr lang="fr-CA" dirty="0"/>
                  <a:t>Calculer les probabilités suivantes:</a:t>
                </a:r>
              </a:p>
              <a:p>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&lt;80)</m:t>
                    </m:r>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r>
                      <a:rPr lang="fr-CA" b="0" i="1" smtClean="0">
                        <a:latin typeface="Cambria Math" panose="02040503050406030204" pitchFamily="18" charset="0"/>
                      </a:rPr>
                      <m:t>(65&lt;</m:t>
                    </m:r>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&lt;85)</m:t>
                    </m:r>
                  </m:oMath>
                </a14:m>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𝑋</m:t>
                    </m:r>
                    <m:r>
                      <a:rPr lang="fr-CA" i="1">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67)</m:t>
                    </m:r>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Chercher a tel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=0,85</m:t>
                    </m:r>
                  </m:oMath>
                </a14:m>
                <a:endParaRPr lang="fr-CA" dirty="0"/>
              </a:p>
              <a:p>
                <a:pPr marL="285750" indent="-285750">
                  <a:buFont typeface="Arial" panose="020B0604020202020204" pitchFamily="34" charset="0"/>
                  <a:buChar char="•"/>
                </a:pPr>
                <a:r>
                  <a:rPr lang="fr-CA" dirty="0"/>
                  <a:t>Chercher a tel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m:t>
                        </m:r>
                        <m:r>
                          <a:rPr lang="fr-CA" b="0" i="1" smtClean="0">
                            <a:latin typeface="Cambria Math" panose="02040503050406030204" pitchFamily="18" charset="0"/>
                          </a:rPr>
                          <m:t>𝑎</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=0,88</m:t>
                    </m:r>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p:txBody>
          </p:sp>
        </mc:Choice>
        <mc:Fallback xmlns="">
          <p:sp>
            <p:nvSpPr>
              <p:cNvPr id="5" name="ZoneTexte 4">
                <a:extLst>
                  <a:ext uri="{FF2B5EF4-FFF2-40B4-BE49-F238E27FC236}">
                    <a16:creationId xmlns:a16="http://schemas.microsoft.com/office/drawing/2014/main" id="{A93BAA35-3010-4C4E-8D46-F3A560E43594}"/>
                  </a:ext>
                </a:extLst>
              </p:cNvPr>
              <p:cNvSpPr txBox="1">
                <a:spLocks noRot="1" noChangeAspect="1" noMove="1" noResize="1" noEditPoints="1" noAdjustHandles="1" noChangeArrowheads="1" noChangeShapeType="1" noTextEdit="1"/>
              </p:cNvSpPr>
              <p:nvPr/>
            </p:nvSpPr>
            <p:spPr>
              <a:xfrm>
                <a:off x="888274" y="2155371"/>
                <a:ext cx="10685417" cy="3970318"/>
              </a:xfrm>
              <a:prstGeom prst="rect">
                <a:avLst/>
              </a:prstGeom>
              <a:blipFill>
                <a:blip r:embed="rId3"/>
                <a:stretch>
                  <a:fillRect l="-513" t="-922"/>
                </a:stretch>
              </a:blipFill>
            </p:spPr>
            <p:txBody>
              <a:bodyPr/>
              <a:lstStyle/>
              <a:p>
                <a:r>
                  <a:rPr lang="fr-CA">
                    <a:noFill/>
                  </a:rPr>
                  <a:t> </a:t>
                </a:r>
              </a:p>
            </p:txBody>
          </p:sp>
        </mc:Fallback>
      </mc:AlternateContent>
    </p:spTree>
    <p:extLst>
      <p:ext uri="{BB962C8B-B14F-4D97-AF65-F5344CB8AC3E}">
        <p14:creationId xmlns:p14="http://schemas.microsoft.com/office/powerpoint/2010/main" val="834339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D99EA1-2C33-4E38-BAD4-5B30BE9A844E}"/>
              </a:ext>
            </a:extLst>
          </p:cNvPr>
          <p:cNvSpPr>
            <a:spLocks noGrp="1"/>
          </p:cNvSpPr>
          <p:nvPr>
            <p:ph type="title"/>
          </p:nvPr>
        </p:nvSpPr>
        <p:spPr>
          <a:xfrm>
            <a:off x="418011" y="365125"/>
            <a:ext cx="11773989" cy="1894749"/>
          </a:xfrm>
        </p:spPr>
        <p:txBody>
          <a:bodyPr>
            <a:normAutofit fontScale="90000"/>
          </a:bodyPr>
          <a:lstStyle/>
          <a:p>
            <a:pPr algn="l">
              <a:lnSpc>
                <a:spcPct val="150000"/>
              </a:lnSpc>
              <a:spcAft>
                <a:spcPts val="800"/>
              </a:spcAft>
            </a:pPr>
            <a:r>
              <a:rPr lang="fr-CA" dirty="0"/>
              <a:t>Exemple 1:  </a:t>
            </a:r>
            <a:r>
              <a:rPr lang="fr-FR" sz="1800" dirty="0">
                <a:solidFill>
                  <a:srgbClr val="000000"/>
                </a:solidFill>
                <a:effectLst/>
                <a:latin typeface="Times New Roman" panose="02020603050405020304" pitchFamily="18" charset="0"/>
                <a:ea typeface="Times New Roman" panose="02020603050405020304" pitchFamily="18" charset="0"/>
              </a:rPr>
              <a:t>Dans une certaine population, le quotient intellectuel est normalement distribué avec une moyenne de 125 et un écart-type de 15.</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le pourcentage de cette population dont le quotient intellectuel est compris entre 110 et 160.</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Une secte, qui recrute ses membres dans cette population, prétend qu’elle les choisit parmi les 5 % ayant le quotient intellectuel le plus élevé. Si cette prétention est vraie, quel est le quotient intellectuel minimum requis pour faire partie de cette secte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4079A413-92E7-494E-9CAE-90A95C407F1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27F7753-2535-4A0B-A131-F04668F2272E}"/>
              </a:ext>
            </a:extLst>
          </p:cNvPr>
          <p:cNvSpPr>
            <a:spLocks noGrp="1"/>
          </p:cNvSpPr>
          <p:nvPr>
            <p:ph type="sldNum" sz="quarter" idx="12"/>
          </p:nvPr>
        </p:nvSpPr>
        <p:spPr/>
        <p:txBody>
          <a:bodyPr/>
          <a:lstStyle/>
          <a:p>
            <a:fld id="{26377AD9-CE17-438C-A638-C64D2D42D7CF}" type="slidenum">
              <a:rPr lang="fr-CA" smtClean="0"/>
              <a:t>11</a:t>
            </a:fld>
            <a:endParaRPr lang="fr-CA"/>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5D2935A3-C308-40D8-B308-18E1FFE04FFA}"/>
                  </a:ext>
                </a:extLst>
              </p:cNvPr>
              <p:cNvSpPr txBox="1"/>
              <p:nvPr/>
            </p:nvSpPr>
            <p:spPr>
              <a:xfrm>
                <a:off x="561703" y="2638697"/>
                <a:ext cx="10032274" cy="2308324"/>
              </a:xfrm>
              <a:prstGeom prst="rect">
                <a:avLst/>
              </a:prstGeom>
              <a:noFill/>
            </p:spPr>
            <p:txBody>
              <a:bodyPr wrap="square" rtlCol="0">
                <a:spAutoFit/>
              </a:bodyPr>
              <a:lstStyle/>
              <a:p>
                <a:r>
                  <a:rPr lang="fr-CA" dirty="0"/>
                  <a:t>Alors, si on pose X: le Q.I dans cette population, alors </a:t>
                </a:r>
                <a14:m>
                  <m:oMath xmlns:m="http://schemas.openxmlformats.org/officeDocument/2006/math">
                    <m:r>
                      <a:rPr lang="fr-CA" sz="1800" b="0" i="1" smtClean="0">
                        <a:latin typeface="Cambria Math" panose="02040503050406030204" pitchFamily="18" charset="0"/>
                      </a:rPr>
                      <m:t>𝑋</m:t>
                    </m:r>
                    <m:r>
                      <a:rPr lang="fr-CA" sz="1800" b="0" i="1" smtClean="0">
                        <a:latin typeface="Cambria Math" panose="02040503050406030204" pitchFamily="18" charset="0"/>
                        <a:ea typeface="Cambria Math" panose="02040503050406030204" pitchFamily="18" charset="0"/>
                      </a:rPr>
                      <m:t>~</m:t>
                    </m:r>
                    <m:r>
                      <a:rPr lang="fr-CA" sz="1800" b="0" i="1" smtClean="0">
                        <a:latin typeface="Cambria Math" panose="02040503050406030204" pitchFamily="18" charset="0"/>
                        <a:ea typeface="Cambria Math" panose="02040503050406030204" pitchFamily="18" charset="0"/>
                      </a:rPr>
                      <m:t>𝒩</m:t>
                    </m:r>
                    <m:r>
                      <a:rPr lang="fr-CA" sz="1800" b="0" i="1" smtClean="0">
                        <a:latin typeface="Cambria Math" panose="02040503050406030204" pitchFamily="18" charset="0"/>
                        <a:ea typeface="Cambria Math" panose="02040503050406030204" pitchFamily="18" charset="0"/>
                      </a:rPr>
                      <m:t>(125;225)</m:t>
                    </m:r>
                  </m:oMath>
                </a14:m>
                <a:r>
                  <a:rPr lang="fr-CA" dirty="0"/>
                  <a:t> .</a:t>
                </a:r>
              </a:p>
              <a:p>
                <a:endParaRPr lang="fr-CA" dirty="0"/>
              </a:p>
              <a:p>
                <a:endParaRPr lang="fr-CA" dirty="0"/>
              </a:p>
              <a:p>
                <a:pPr marL="285750" indent="-285750">
                  <a:buFont typeface="Arial" panose="020B0604020202020204" pitchFamily="34" charset="0"/>
                  <a:buChar char="•"/>
                </a:pPr>
                <a:r>
                  <a:rPr lang="fr-FR" sz="1800" dirty="0">
                    <a:solidFill>
                      <a:srgbClr val="000000"/>
                    </a:solidFill>
                    <a:effectLst/>
                    <a:latin typeface="Times New Roman" panose="02020603050405020304" pitchFamily="18" charset="0"/>
                    <a:ea typeface="Times New Roman" panose="02020603050405020304" pitchFamily="18" charset="0"/>
                  </a:rPr>
                  <a:t>On tape : </a:t>
                </a:r>
                <a:r>
                  <a:rPr lang="fr-FR" sz="1800" dirty="0" err="1">
                    <a:solidFill>
                      <a:srgbClr val="000000"/>
                    </a:solidFill>
                    <a:effectLst/>
                    <a:latin typeface="Times New Roman" panose="02020603050405020304" pitchFamily="18" charset="0"/>
                    <a:ea typeface="Times New Roman" panose="02020603050405020304" pitchFamily="18" charset="0"/>
                  </a:rPr>
                  <a:t>pnorm</a:t>
                </a:r>
                <a:r>
                  <a:rPr lang="fr-FR" sz="1800" dirty="0">
                    <a:solidFill>
                      <a:srgbClr val="000000"/>
                    </a:solidFill>
                    <a:effectLst/>
                    <a:latin typeface="Times New Roman" panose="02020603050405020304" pitchFamily="18" charset="0"/>
                    <a:ea typeface="Times New Roman" panose="02020603050405020304" pitchFamily="18" charset="0"/>
                  </a:rPr>
                  <a:t>(160,125,15)-</a:t>
                </a:r>
                <a:r>
                  <a:rPr lang="fr-FR" sz="1800" dirty="0" err="1">
                    <a:solidFill>
                      <a:srgbClr val="000000"/>
                    </a:solidFill>
                    <a:effectLst/>
                    <a:latin typeface="Times New Roman" panose="02020603050405020304" pitchFamily="18" charset="0"/>
                    <a:ea typeface="Times New Roman" panose="02020603050405020304" pitchFamily="18" charset="0"/>
                  </a:rPr>
                  <a:t>pnorm</a:t>
                </a:r>
                <a:r>
                  <a:rPr lang="fr-FR" sz="1800" dirty="0">
                    <a:solidFill>
                      <a:srgbClr val="000000"/>
                    </a:solidFill>
                    <a:effectLst/>
                    <a:latin typeface="Times New Roman" panose="02020603050405020304" pitchFamily="18" charset="0"/>
                    <a:ea typeface="Times New Roman" panose="02020603050405020304" pitchFamily="18" charset="0"/>
                  </a:rPr>
                  <a:t>(110,125,15) ce qui donne : 0,8315294</a:t>
                </a:r>
                <a:endParaRPr lang="fr-CA" sz="1800" dirty="0">
                  <a:solidFill>
                    <a:srgbClr val="000000"/>
                  </a:solidFill>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Puisqu’on cherche a tel que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=0,05→</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𝑎</m:t>
                        </m:r>
                      </m:e>
                    </m:d>
                    <m:r>
                      <a:rPr lang="fr-CA" b="0" i="1" smtClean="0">
                        <a:latin typeface="Cambria Math" panose="02040503050406030204" pitchFamily="18" charset="0"/>
                        <a:ea typeface="Cambria Math" panose="02040503050406030204" pitchFamily="18" charset="0"/>
                      </a:rPr>
                      <m:t>=0,95.</m:t>
                    </m:r>
                  </m:oMath>
                </a14:m>
                <a:endParaRPr lang="fr-CA" b="0" dirty="0">
                  <a:ea typeface="Cambria Math" panose="020405030504060302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On tape :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qnorm</a:t>
                </a:r>
                <a:r>
                  <a:rPr lang="en-US" sz="1800" dirty="0">
                    <a:effectLst/>
                    <a:latin typeface="Calibri" panose="020F0502020204030204" pitchFamily="34" charset="0"/>
                    <a:ea typeface="Calibri" panose="020F0502020204030204" pitchFamily="34" charset="0"/>
                    <a:cs typeface="Times New Roman" panose="02020603050405020304" pitchFamily="18" charset="0"/>
                  </a:rPr>
                  <a:t>(0.95,125,15)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ce</a:t>
                </a:r>
                <a:r>
                  <a:rPr lang="en-US" sz="1800" dirty="0">
                    <a:effectLst/>
                    <a:latin typeface="Calibri" panose="020F0502020204030204" pitchFamily="34" charset="0"/>
                    <a:ea typeface="Calibri" panose="020F0502020204030204" pitchFamily="34" charset="0"/>
                    <a:cs typeface="Times New Roman" panose="02020603050405020304" pitchFamily="18" charset="0"/>
                  </a:rPr>
                  <a:t> qui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donne</a:t>
                </a:r>
                <a:r>
                  <a:rPr lang="en-US" sz="1800" dirty="0">
                    <a:effectLst/>
                    <a:latin typeface="Calibri" panose="020F0502020204030204" pitchFamily="34" charset="0"/>
                    <a:ea typeface="Calibri" panose="020F0502020204030204" pitchFamily="34" charset="0"/>
                    <a:cs typeface="Times New Roman" panose="02020603050405020304" pitchFamily="18" charset="0"/>
                  </a:rPr>
                  <a:t> : a=149,6728</a:t>
                </a:r>
                <a:endParaRPr lang="fr-CA" dirty="0"/>
              </a:p>
            </p:txBody>
          </p:sp>
        </mc:Choice>
        <mc:Fallback xmlns="">
          <p:sp>
            <p:nvSpPr>
              <p:cNvPr id="9" name="ZoneTexte 8">
                <a:extLst>
                  <a:ext uri="{FF2B5EF4-FFF2-40B4-BE49-F238E27FC236}">
                    <a16:creationId xmlns:a16="http://schemas.microsoft.com/office/drawing/2014/main" id="{5D2935A3-C308-40D8-B308-18E1FFE04FFA}"/>
                  </a:ext>
                </a:extLst>
              </p:cNvPr>
              <p:cNvSpPr txBox="1">
                <a:spLocks noRot="1" noChangeAspect="1" noMove="1" noResize="1" noEditPoints="1" noAdjustHandles="1" noChangeArrowheads="1" noChangeShapeType="1" noTextEdit="1"/>
              </p:cNvSpPr>
              <p:nvPr/>
            </p:nvSpPr>
            <p:spPr>
              <a:xfrm>
                <a:off x="561703" y="2638697"/>
                <a:ext cx="10032274" cy="2308324"/>
              </a:xfrm>
              <a:prstGeom prst="rect">
                <a:avLst/>
              </a:prstGeom>
              <a:blipFill>
                <a:blip r:embed="rId2"/>
                <a:stretch>
                  <a:fillRect l="-486" t="-1583" b="-3166"/>
                </a:stretch>
              </a:blipFill>
            </p:spPr>
            <p:txBody>
              <a:bodyPr/>
              <a:lstStyle/>
              <a:p>
                <a:r>
                  <a:rPr lang="fr-CA">
                    <a:noFill/>
                  </a:rPr>
                  <a:t> </a:t>
                </a:r>
              </a:p>
            </p:txBody>
          </p:sp>
        </mc:Fallback>
      </mc:AlternateContent>
    </p:spTree>
    <p:extLst>
      <p:ext uri="{BB962C8B-B14F-4D97-AF65-F5344CB8AC3E}">
        <p14:creationId xmlns:p14="http://schemas.microsoft.com/office/powerpoint/2010/main" val="2008521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C54A5E-3452-4D9C-9057-C85AE13E71B2}"/>
              </a:ext>
            </a:extLst>
          </p:cNvPr>
          <p:cNvSpPr>
            <a:spLocks noGrp="1"/>
          </p:cNvSpPr>
          <p:nvPr>
            <p:ph type="title"/>
          </p:nvPr>
        </p:nvSpPr>
        <p:spPr>
          <a:xfrm>
            <a:off x="838200" y="365126"/>
            <a:ext cx="10515600" cy="2913652"/>
          </a:xfrm>
        </p:spPr>
        <p:txBody>
          <a:bodyPr>
            <a:normAutofit fontScale="90000"/>
          </a:bodyPr>
          <a:lstStyle/>
          <a:p>
            <a:pPr marL="228600" indent="-228600" algn="l">
              <a:lnSpc>
                <a:spcPct val="150000"/>
              </a:lnSpc>
              <a:spcBef>
                <a:spcPts val="1300"/>
              </a:spcBef>
              <a:spcAft>
                <a:spcPts val="300"/>
              </a:spcAft>
              <a:tabLst>
                <a:tab pos="152400" algn="r"/>
                <a:tab pos="449580" algn="l"/>
              </a:tabLst>
            </a:pPr>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Chez les diabétiques, le taux de glucose sanguin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est approximativement distribué normalement avec une moyenne de 105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 et un écart-type de 9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a:t>
            </a:r>
            <a:r>
              <a:rPr lang="fr-FR" sz="1800" i="1" dirty="0">
                <a:solidFill>
                  <a:srgbClr val="000000"/>
                </a:solidFill>
                <a:effectLst/>
                <a:latin typeface="Times New Roman" panose="02020603050405020304" pitchFamily="18" charset="0"/>
                <a:ea typeface="Times New Roman" panose="02020603050405020304" pitchFamily="18" charset="0"/>
              </a:rPr>
              <a:t>P</a:t>
            </a:r>
            <a:r>
              <a:rPr lang="fr-FR" sz="1800" dirty="0">
                <a:solidFill>
                  <a:srgbClr val="000000"/>
                </a:solidFill>
                <a:effectLst/>
                <a:latin typeface="Times New Roman" panose="02020603050405020304" pitchFamily="18" charset="0"/>
                <a:ea typeface="Times New Roman" panose="02020603050405020304" pitchFamily="18" charset="0"/>
              </a:rPr>
              <a:t>(</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&gt; 125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Quel est le pourcentage des diabétiques dont le taux de glucose sanguin est compris entre 95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 et 130 mg/100 </a:t>
            </a:r>
            <a:r>
              <a:rPr lang="fr-FR" sz="1800" dirty="0" err="1">
                <a:solidFill>
                  <a:srgbClr val="000000"/>
                </a:solidFill>
                <a:effectLst/>
                <a:latin typeface="Times New Roman" panose="02020603050405020304" pitchFamily="18" charset="0"/>
                <a:ea typeface="Times New Roman" panose="02020603050405020304" pitchFamily="18" charset="0"/>
              </a:rPr>
              <a:t>mL</a:t>
            </a:r>
            <a:r>
              <a:rPr lang="fr-FR" sz="1800" dirty="0">
                <a:solidFill>
                  <a:srgbClr val="000000"/>
                </a:solidFill>
                <a:effectLst/>
                <a:latin typeface="Times New Roman" panose="02020603050405020304" pitchFamily="18" charset="0"/>
                <a:ea typeface="Times New Roman" panose="02020603050405020304" pitchFamily="18" charset="0"/>
              </a:rPr>
              <a:t>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c)	Déterminez </a:t>
            </a:r>
            <a:r>
              <a:rPr lang="fr-FR" sz="1800" i="1" dirty="0">
                <a:solidFill>
                  <a:srgbClr val="000000"/>
                </a:solidFill>
                <a:effectLst/>
                <a:latin typeface="Times New Roman" panose="02020603050405020304" pitchFamily="18" charset="0"/>
                <a:ea typeface="Times New Roman" panose="02020603050405020304" pitchFamily="18" charset="0"/>
              </a:rPr>
              <a:t>k</a:t>
            </a:r>
            <a:r>
              <a:rPr lang="fr-FR" sz="1800" dirty="0">
                <a:solidFill>
                  <a:srgbClr val="000000"/>
                </a:solidFill>
                <a:effectLst/>
                <a:latin typeface="Times New Roman" panose="02020603050405020304" pitchFamily="18" charset="0"/>
                <a:ea typeface="Times New Roman" panose="02020603050405020304" pitchFamily="18" charset="0"/>
              </a:rPr>
              <a:t> telle que </a:t>
            </a:r>
            <a:r>
              <a:rPr lang="fr-FR" sz="1800" i="1" dirty="0">
                <a:solidFill>
                  <a:srgbClr val="000000"/>
                </a:solidFill>
                <a:effectLst/>
                <a:latin typeface="Times New Roman" panose="02020603050405020304" pitchFamily="18" charset="0"/>
                <a:ea typeface="Times New Roman" panose="02020603050405020304" pitchFamily="18" charset="0"/>
              </a:rPr>
              <a:t>P</a:t>
            </a:r>
            <a:r>
              <a:rPr lang="fr-FR" sz="1800" dirty="0">
                <a:solidFill>
                  <a:srgbClr val="000000"/>
                </a:solidFill>
                <a:effectLst/>
                <a:latin typeface="Times New Roman" panose="02020603050405020304" pitchFamily="18" charset="0"/>
                <a:ea typeface="Times New Roman" panose="02020603050405020304" pitchFamily="18" charset="0"/>
              </a:rPr>
              <a:t>(</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&gt; </a:t>
            </a:r>
            <a:r>
              <a:rPr lang="fr-FR" sz="1800" i="1" dirty="0">
                <a:solidFill>
                  <a:srgbClr val="000000"/>
                </a:solidFill>
                <a:effectLst/>
                <a:latin typeface="Times New Roman" panose="02020603050405020304" pitchFamily="18" charset="0"/>
                <a:ea typeface="Times New Roman" panose="02020603050405020304" pitchFamily="18" charset="0"/>
              </a:rPr>
              <a:t>k</a:t>
            </a:r>
            <a:r>
              <a:rPr lang="fr-FR" sz="1800" dirty="0">
                <a:solidFill>
                  <a:srgbClr val="000000"/>
                </a:solidFill>
                <a:effectLst/>
                <a:latin typeface="Times New Roman" panose="02020603050405020304" pitchFamily="18" charset="0"/>
                <a:ea typeface="Times New Roman" panose="02020603050405020304" pitchFamily="18" charset="0"/>
              </a:rPr>
              <a:t>) = 0,20.</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FD04930B-5F5D-4AD6-982C-0FF915B8C17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E641F0A-2436-40CA-BFAC-4CE12924F176}"/>
              </a:ext>
            </a:extLst>
          </p:cNvPr>
          <p:cNvSpPr>
            <a:spLocks noGrp="1"/>
          </p:cNvSpPr>
          <p:nvPr>
            <p:ph type="sldNum" sz="quarter" idx="12"/>
          </p:nvPr>
        </p:nvSpPr>
        <p:spPr/>
        <p:txBody>
          <a:bodyPr/>
          <a:lstStyle/>
          <a:p>
            <a:fld id="{26377AD9-CE17-438C-A638-C64D2D42D7CF}" type="slidenum">
              <a:rPr lang="fr-CA" smtClean="0"/>
              <a:t>12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A49ACE8-A9A0-4D58-889D-E20AC5DD0C32}"/>
                  </a:ext>
                </a:extLst>
              </p:cNvPr>
              <p:cNvSpPr txBox="1"/>
              <p:nvPr/>
            </p:nvSpPr>
            <p:spPr>
              <a:xfrm>
                <a:off x="1084216" y="3278778"/>
                <a:ext cx="10269583" cy="1477328"/>
              </a:xfrm>
              <a:prstGeom prst="rect">
                <a:avLst/>
              </a:prstGeom>
              <a:noFill/>
            </p:spPr>
            <p:txBody>
              <a:bodyPr wrap="square" rtlCol="0">
                <a:spAutoFit/>
              </a:bodyPr>
              <a:lstStyle/>
              <a:p>
                <a:pPr marL="285750" indent="-285750">
                  <a:buFont typeface="Arial" panose="020B0604020202020204" pitchFamily="34" charset="0"/>
                  <a:buChar char="•"/>
                </a:pPr>
                <a:r>
                  <a:rPr lang="fr-CA" dirty="0"/>
                  <a:t>On cherche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&gt;123</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&lt;125</m:t>
                        </m:r>
                      </m:e>
                    </m:d>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125,105,9</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𝑜𝑏𝑡𝑖𝑒𝑛𝑡</m:t>
                    </m:r>
                    <m:r>
                      <a:rPr lang="fr-CA" b="0" i="1" smtClean="0">
                        <a:latin typeface="Cambria Math" panose="02040503050406030204" pitchFamily="18" charset="0"/>
                        <a:ea typeface="Cambria Math" panose="02040503050406030204" pitchFamily="18" charset="0"/>
                      </a:rPr>
                      <m:t>:</m:t>
                    </m:r>
                  </m:oMath>
                </a14:m>
                <a:r>
                  <a:rPr lang="fr-CA" dirty="0"/>
                  <a:t> 0,01313</a:t>
                </a:r>
              </a:p>
              <a:p>
                <a:pPr marL="285750" indent="-285750">
                  <a:buFont typeface="Arial" panose="020B0604020202020204" pitchFamily="34" charset="0"/>
                  <a:buChar char="•"/>
                </a:pPr>
                <a:r>
                  <a:rPr lang="fr-CA" dirty="0"/>
                  <a:t>On cherche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95</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&lt;130</m:t>
                        </m:r>
                      </m:e>
                    </m:d>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130,105,9</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95,105,9</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𝑜𝑏𝑡𝑖𝑒𝑛𝑡</m:t>
                    </m:r>
                    <m:r>
                      <a:rPr lang="fr-CA" b="0" i="1" smtClean="0">
                        <a:latin typeface="Cambria Math" panose="02040503050406030204" pitchFamily="18" charset="0"/>
                        <a:ea typeface="Cambria Math" panose="02040503050406030204" pitchFamily="18" charset="0"/>
                      </a:rPr>
                      <m:t> 0,894.</m:t>
                    </m:r>
                  </m:oMath>
                </a14:m>
                <a:endParaRPr lang="fr-CA" dirty="0"/>
              </a:p>
              <a:p>
                <a:pPr marL="285750" indent="-285750">
                  <a:buFont typeface="Arial" panose="020B0604020202020204" pitchFamily="34" charset="0"/>
                  <a:buChar char="•"/>
                </a:pPr>
                <a:endParaRPr lang="fr-CA" dirty="0"/>
              </a:p>
              <a:p>
                <a:pPr marL="285750" indent="-285750">
                  <a:buFont typeface="Arial" panose="020B0604020202020204" pitchFamily="34" charset="0"/>
                  <a:buChar char="•"/>
                </a:pPr>
                <a:r>
                  <a:rPr lang="fr-CA" dirty="0"/>
                  <a:t>On cherche </a:t>
                </a:r>
                <a14:m>
                  <m:oMath xmlns:m="http://schemas.openxmlformats.org/officeDocument/2006/math">
                    <m:r>
                      <a:rPr lang="fr-CA" b="0" i="1" smtClean="0">
                        <a:latin typeface="Cambria Math" panose="02040503050406030204" pitchFamily="18" charset="0"/>
                      </a:rPr>
                      <m:t>𝑘</m:t>
                    </m:r>
                    <m:r>
                      <a:rPr lang="fr-CA" b="0" i="1" smtClean="0">
                        <a:latin typeface="Cambria Math" panose="02040503050406030204" pitchFamily="18" charset="0"/>
                      </a:rPr>
                      <m:t> </m:t>
                    </m:r>
                    <m:r>
                      <a:rPr lang="fr-CA" b="0" i="1" smtClean="0">
                        <a:latin typeface="Cambria Math" panose="02040503050406030204" pitchFamily="18" charset="0"/>
                      </a:rPr>
                      <m:t>𝑡𝑒𝑙</m:t>
                    </m:r>
                    <m:r>
                      <a:rPr lang="fr-CA" b="0" i="1" smtClean="0">
                        <a:latin typeface="Cambria Math" panose="02040503050406030204" pitchFamily="18" charset="0"/>
                      </a:rPr>
                      <m:t> </m:t>
                    </m:r>
                    <m:r>
                      <a:rPr lang="fr-CA" b="0" i="1" smtClean="0">
                        <a:latin typeface="Cambria Math" panose="02040503050406030204" pitchFamily="18" charset="0"/>
                      </a:rPr>
                      <m:t>𝑞𝑢𝑒</m:t>
                    </m:r>
                    <m:r>
                      <a:rPr lang="fr-CA" b="0" i="1" smtClean="0">
                        <a:latin typeface="Cambria Math" panose="02040503050406030204" pitchFamily="18" charset="0"/>
                      </a:rPr>
                      <m:t>  </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𝑘</m:t>
                        </m:r>
                      </m:e>
                    </m:d>
                    <m:r>
                      <a:rPr lang="fr-CA" b="0" i="1" smtClean="0">
                        <a:latin typeface="Cambria Math" panose="02040503050406030204" pitchFamily="18" charset="0"/>
                        <a:ea typeface="Cambria Math" panose="02040503050406030204" pitchFamily="18" charset="0"/>
                      </a:rPr>
                      <m:t>=0,20→</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𝑘</m:t>
                        </m:r>
                      </m:e>
                    </m:d>
                    <m:r>
                      <a:rPr lang="fr-CA" b="0" i="1" smtClean="0">
                        <a:latin typeface="Cambria Math" panose="02040503050406030204" pitchFamily="18" charset="0"/>
                        <a:ea typeface="Cambria Math" panose="02040503050406030204" pitchFamily="18" charset="0"/>
                      </a:rPr>
                      <m:t>=0,80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0.8,105,9</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𝑜𝑏𝑡𝑖𝑛𝑡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𝑘</m:t>
                    </m:r>
                    <m:r>
                      <a:rPr lang="fr-CA" b="0" i="1" smtClean="0">
                        <a:latin typeface="Cambria Math" panose="02040503050406030204" pitchFamily="18" charset="0"/>
                        <a:ea typeface="Cambria Math" panose="02040503050406030204" pitchFamily="18" charset="0"/>
                      </a:rPr>
                      <m:t>=112,5746</m:t>
                    </m:r>
                  </m:oMath>
                </a14:m>
                <a:endParaRPr lang="fr-CA" dirty="0"/>
              </a:p>
            </p:txBody>
          </p:sp>
        </mc:Choice>
        <mc:Fallback xmlns="">
          <p:sp>
            <p:nvSpPr>
              <p:cNvPr id="5" name="ZoneTexte 4">
                <a:extLst>
                  <a:ext uri="{FF2B5EF4-FFF2-40B4-BE49-F238E27FC236}">
                    <a16:creationId xmlns:a16="http://schemas.microsoft.com/office/drawing/2014/main" id="{0A49ACE8-A9A0-4D58-889D-E20AC5DD0C32}"/>
                  </a:ext>
                </a:extLst>
              </p:cNvPr>
              <p:cNvSpPr txBox="1">
                <a:spLocks noRot="1" noChangeAspect="1" noMove="1" noResize="1" noEditPoints="1" noAdjustHandles="1" noChangeArrowheads="1" noChangeShapeType="1" noTextEdit="1"/>
              </p:cNvSpPr>
              <p:nvPr/>
            </p:nvSpPr>
            <p:spPr>
              <a:xfrm>
                <a:off x="1084216" y="3278778"/>
                <a:ext cx="10269583" cy="1477328"/>
              </a:xfrm>
              <a:prstGeom prst="rect">
                <a:avLst/>
              </a:prstGeom>
              <a:blipFill>
                <a:blip r:embed="rId2"/>
                <a:stretch>
                  <a:fillRect l="-416" t="-2479" b="-2066"/>
                </a:stretch>
              </a:blipFill>
            </p:spPr>
            <p:txBody>
              <a:bodyPr/>
              <a:lstStyle/>
              <a:p>
                <a:r>
                  <a:rPr lang="fr-CA">
                    <a:noFill/>
                  </a:rPr>
                  <a:t> </a:t>
                </a:r>
              </a:p>
            </p:txBody>
          </p:sp>
        </mc:Fallback>
      </mc:AlternateContent>
    </p:spTree>
    <p:extLst>
      <p:ext uri="{BB962C8B-B14F-4D97-AF65-F5344CB8AC3E}">
        <p14:creationId xmlns:p14="http://schemas.microsoft.com/office/powerpoint/2010/main" val="931864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59BDE1-D3D8-47B8-AC06-76B4B9B0DDE5}"/>
              </a:ext>
            </a:extLst>
          </p:cNvPr>
          <p:cNvSpPr>
            <a:spLocks noGrp="1"/>
          </p:cNvSpPr>
          <p:nvPr>
            <p:ph type="title"/>
          </p:nvPr>
        </p:nvSpPr>
        <p:spPr>
          <a:xfrm>
            <a:off x="838200" y="365126"/>
            <a:ext cx="10515600" cy="1999252"/>
          </a:xfrm>
        </p:spPr>
        <p:txBody>
          <a:bodyPr>
            <a:normAutofit fontScale="90000"/>
          </a:bodyPr>
          <a:lstStyle/>
          <a:p>
            <a:pPr marL="228600" indent="-228600" algn="l">
              <a:lnSpc>
                <a:spcPct val="150000"/>
              </a:lnSpc>
              <a:spcBef>
                <a:spcPts val="1300"/>
              </a:spcBef>
              <a:spcAft>
                <a:spcPts val="300"/>
              </a:spcAft>
              <a:tabLst>
                <a:tab pos="152400" algn="r"/>
                <a:tab pos="449580" algn="l"/>
              </a:tabLst>
            </a:pPr>
            <a:r>
              <a:rPr lang="fr-CA" dirty="0"/>
              <a:t>Exemple 3:</a:t>
            </a:r>
            <a:r>
              <a:rPr lang="fr-FR" sz="1800" dirty="0">
                <a:solidFill>
                  <a:srgbClr val="000000"/>
                </a:solidFill>
                <a:effectLst/>
                <a:latin typeface="Times New Roman" panose="02020603050405020304" pitchFamily="18" charset="0"/>
                <a:ea typeface="Times New Roman" panose="02020603050405020304" pitchFamily="18" charset="0"/>
              </a:rPr>
              <a:t> 	Supposez que la taille d’un pygmée âgé de 25 ans soit distribuée normalement avec une moyenne de 140 cm et un écart-type de 7 cm.</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Quel est le pourcentage des pygmées de cet âge dont la taille est comprise entre 130 cm et 160 cm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Parmi les pygmées de 25 ans qui mesurent plus de 146 cm, quel est le pourcentage de ceux qui dépassent 155 cm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BE2C1748-F384-4E14-9A6D-BAD339D00FC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08F51D6-6A7B-4AAD-B60A-F23C3F625273}"/>
              </a:ext>
            </a:extLst>
          </p:cNvPr>
          <p:cNvSpPr>
            <a:spLocks noGrp="1"/>
          </p:cNvSpPr>
          <p:nvPr>
            <p:ph type="sldNum" sz="quarter" idx="12"/>
          </p:nvPr>
        </p:nvSpPr>
        <p:spPr/>
        <p:txBody>
          <a:bodyPr/>
          <a:lstStyle/>
          <a:p>
            <a:fld id="{26377AD9-CE17-438C-A638-C64D2D42D7CF}" type="slidenum">
              <a:rPr lang="fr-CA" smtClean="0"/>
              <a:t>13</a:t>
            </a:fld>
            <a:endParaRPr lang="fr-CA"/>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174AA7A1-4E20-4BA8-A45D-4C5D26DF5F1B}"/>
                  </a:ext>
                </a:extLst>
              </p:cNvPr>
              <p:cNvSpPr txBox="1"/>
              <p:nvPr/>
            </p:nvSpPr>
            <p:spPr>
              <a:xfrm>
                <a:off x="692331" y="2508069"/>
                <a:ext cx="11499669" cy="1648656"/>
              </a:xfrm>
              <a:prstGeom prst="rect">
                <a:avLst/>
              </a:prstGeom>
              <a:noFill/>
            </p:spPr>
            <p:txBody>
              <a:bodyPr wrap="square" rtlCol="0">
                <a:spAutoFit/>
              </a:bodyPr>
              <a:lstStyle/>
              <a:p>
                <a:r>
                  <a:rPr lang="fr-CA" b="1" dirty="0"/>
                  <a:t>Réponse: </a:t>
                </a:r>
                <a:r>
                  <a:rPr lang="fr-CA" dirty="0"/>
                  <a:t>Soit X, la taille d’un pygmée âgé de 25 ans.</a:t>
                </a:r>
              </a:p>
              <a:p>
                <a:endParaRPr lang="fr-CA" dirty="0"/>
              </a:p>
              <a:p>
                <a:r>
                  <a:rPr lang="fr-CA" dirty="0"/>
                  <a:t>(a)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130</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&lt;160</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160,140,7</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130,140,7</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𝑐𝑒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𝑑𝑜𝑛𝑛𝑒</m:t>
                    </m:r>
                    <m:r>
                      <a:rPr lang="fr-CA" b="0" i="1" smtClean="0">
                        <a:latin typeface="Cambria Math" panose="02040503050406030204" pitchFamily="18" charset="0"/>
                        <a:ea typeface="Cambria Math" panose="02040503050406030204" pitchFamily="18" charset="0"/>
                      </a:rPr>
                      <m:t>: </m:t>
                    </m:r>
                  </m:oMath>
                </a14:m>
                <a:r>
                  <a:rPr lang="fr-CA" dirty="0"/>
                  <a:t>0,9213</a:t>
                </a:r>
              </a:p>
              <a:p>
                <a:r>
                  <a:rPr lang="fr-CA" dirty="0"/>
                  <a:t> (b)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&gt;155</m:t>
                        </m:r>
                      </m:e>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&gt;146</m:t>
                        </m:r>
                      </m:e>
                    </m:d>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&gt;155)∩(</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&gt;146)</m:t>
                        </m:r>
                      </m:num>
                      <m:den>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&gt;146)</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&gt;155)</m:t>
                        </m:r>
                      </m:num>
                      <m:den>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&gt;146)</m:t>
                        </m:r>
                      </m:den>
                    </m:f>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155,140,7</m:t>
                            </m:r>
                          </m:e>
                        </m:d>
                      </m:num>
                      <m:den>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146,140,7</m:t>
                            </m:r>
                          </m:e>
                        </m:d>
                      </m:den>
                    </m:f>
                    <m:r>
                      <a:rPr lang="fr-CA" b="0" i="1" smtClean="0">
                        <a:latin typeface="Cambria Math" panose="02040503050406030204" pitchFamily="18" charset="0"/>
                        <a:ea typeface="Cambria Math" panose="02040503050406030204" pitchFamily="18" charset="0"/>
                      </a:rPr>
                      <m:t>  </m:t>
                    </m:r>
                  </m:oMath>
                </a14:m>
                <a:endParaRPr lang="fr-CA" b="0" dirty="0">
                  <a:ea typeface="Cambria Math" panose="02040503050406030204" pitchFamily="18" charset="0"/>
                </a:endParaRPr>
              </a:p>
              <a:p>
                <a:r>
                  <a:rPr lang="fr-CA" dirty="0"/>
                  <a:t> Ce qui donne 0,0821</a:t>
                </a:r>
              </a:p>
            </p:txBody>
          </p:sp>
        </mc:Choice>
        <mc:Fallback xmlns="">
          <p:sp>
            <p:nvSpPr>
              <p:cNvPr id="6" name="ZoneTexte 5">
                <a:extLst>
                  <a:ext uri="{FF2B5EF4-FFF2-40B4-BE49-F238E27FC236}">
                    <a16:creationId xmlns:a16="http://schemas.microsoft.com/office/drawing/2014/main" id="{174AA7A1-4E20-4BA8-A45D-4C5D26DF5F1B}"/>
                  </a:ext>
                </a:extLst>
              </p:cNvPr>
              <p:cNvSpPr txBox="1">
                <a:spLocks noRot="1" noChangeAspect="1" noMove="1" noResize="1" noEditPoints="1" noAdjustHandles="1" noChangeArrowheads="1" noChangeShapeType="1" noTextEdit="1"/>
              </p:cNvSpPr>
              <p:nvPr/>
            </p:nvSpPr>
            <p:spPr>
              <a:xfrm>
                <a:off x="692331" y="2508069"/>
                <a:ext cx="11499669" cy="1648656"/>
              </a:xfrm>
              <a:prstGeom prst="rect">
                <a:avLst/>
              </a:prstGeom>
              <a:blipFill>
                <a:blip r:embed="rId2"/>
                <a:stretch>
                  <a:fillRect l="-477" t="-1845" b="-4797"/>
                </a:stretch>
              </a:blipFill>
            </p:spPr>
            <p:txBody>
              <a:bodyPr/>
              <a:lstStyle/>
              <a:p>
                <a:r>
                  <a:rPr lang="fr-CA">
                    <a:noFill/>
                  </a:rPr>
                  <a:t> </a:t>
                </a:r>
              </a:p>
            </p:txBody>
          </p:sp>
        </mc:Fallback>
      </mc:AlternateContent>
    </p:spTree>
    <p:extLst>
      <p:ext uri="{BB962C8B-B14F-4D97-AF65-F5344CB8AC3E}">
        <p14:creationId xmlns:p14="http://schemas.microsoft.com/office/powerpoint/2010/main" val="3330946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75F354-7EFF-4513-AB6F-086420F077E3}"/>
              </a:ext>
            </a:extLst>
          </p:cNvPr>
          <p:cNvSpPr>
            <a:spLocks noGrp="1"/>
          </p:cNvSpPr>
          <p:nvPr>
            <p:ph type="title"/>
          </p:nvPr>
        </p:nvSpPr>
        <p:spPr>
          <a:xfrm>
            <a:off x="838200" y="365125"/>
            <a:ext cx="10515600" cy="2665458"/>
          </a:xfrm>
        </p:spPr>
        <p:txBody>
          <a:bodyPr>
            <a:normAutofit fontScale="90000"/>
          </a:bodyPr>
          <a:lstStyle/>
          <a:p>
            <a:pPr marL="228600" indent="-228600" algn="l">
              <a:lnSpc>
                <a:spcPct val="150000"/>
              </a:lnSpc>
              <a:spcBef>
                <a:spcPts val="1300"/>
              </a:spcBef>
              <a:spcAft>
                <a:spcPts val="300"/>
              </a:spcAft>
              <a:tabLst>
                <a:tab pos="152400" algn="r"/>
                <a:tab pos="449580" algn="l"/>
              </a:tabLst>
            </a:pPr>
            <a:r>
              <a:rPr lang="fr-CA" dirty="0"/>
              <a:t>Exemple4: </a:t>
            </a:r>
            <a:r>
              <a:rPr lang="fr-FR" sz="1800" dirty="0">
                <a:solidFill>
                  <a:srgbClr val="000000"/>
                </a:solidFill>
                <a:effectLst/>
                <a:latin typeface="Times New Roman" panose="02020603050405020304" pitchFamily="18" charset="0"/>
                <a:ea typeface="Times New Roman" panose="02020603050405020304" pitchFamily="18" charset="0"/>
              </a:rPr>
              <a:t>Un radar est en fonction sur une route dont la limite de vitesse est 80 km/h.</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En supposant que la vitesse des voitures soit normalement distribuée avec une moyenne de 75 km/h et un écart-type de 10 km/h, quel est le pourcentage des conducteurs qui écoperont d’une amende si le radar ne tolère pas une vitesse supérieure à 88 km/h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Sachant qu’en plus de l’amende, un excès de vitesse de 30 km/h entraîne le retrait du permis de conduire, quel est le pourcentage des conducteurs qui subiront les deux types de sanctions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666BC498-14F2-4758-82B1-BE8A8C7A147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8E70BD6-C902-4A2D-AFB6-B79224219DCB}"/>
              </a:ext>
            </a:extLst>
          </p:cNvPr>
          <p:cNvSpPr>
            <a:spLocks noGrp="1"/>
          </p:cNvSpPr>
          <p:nvPr>
            <p:ph type="sldNum" sz="quarter" idx="12"/>
          </p:nvPr>
        </p:nvSpPr>
        <p:spPr/>
        <p:txBody>
          <a:bodyPr/>
          <a:lstStyle/>
          <a:p>
            <a:fld id="{26377AD9-CE17-438C-A638-C64D2D42D7CF}" type="slidenum">
              <a:rPr lang="fr-CA" smtClean="0"/>
              <a:t>14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44535A4-F262-4EBF-894E-CA1321918027}"/>
                  </a:ext>
                </a:extLst>
              </p:cNvPr>
              <p:cNvSpPr txBox="1"/>
              <p:nvPr/>
            </p:nvSpPr>
            <p:spPr>
              <a:xfrm>
                <a:off x="838200" y="3030583"/>
                <a:ext cx="11062063" cy="923330"/>
              </a:xfrm>
              <a:prstGeom prst="rect">
                <a:avLst/>
              </a:prstGeom>
              <a:noFill/>
            </p:spPr>
            <p:txBody>
              <a:bodyPr wrap="square" rtlCol="0">
                <a:spAutoFit/>
              </a:bodyPr>
              <a:lstStyle/>
              <a:p>
                <a:r>
                  <a:rPr lang="fr-CA" dirty="0"/>
                  <a:t>Soit X: la vitesse des voitures.</a:t>
                </a:r>
              </a:p>
              <a:p>
                <a:pPr marL="342900" indent="-342900">
                  <a:buAutoNum type="alphaLcParenBoth"/>
                </a:pPr>
                <a:r>
                  <a:rPr lang="fr-CA" dirty="0"/>
                  <a:t>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&gt;88</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&lt;88</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𝑂𝑛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88,75,10</m:t>
                        </m:r>
                      </m:e>
                    </m:d>
                    <m:r>
                      <a:rPr lang="fr-CA" b="0" i="1" smtClean="0">
                        <a:latin typeface="Cambria Math" panose="02040503050406030204" pitchFamily="18" charset="0"/>
                        <a:ea typeface="Cambria Math" panose="02040503050406030204" pitchFamily="18" charset="0"/>
                      </a:rPr>
                      <m:t>=0,0968=9,68%</m:t>
                    </m:r>
                  </m:oMath>
                </a14:m>
                <a:endParaRPr lang="fr-CA" dirty="0"/>
              </a:p>
              <a:p>
                <a:pPr marL="342900" indent="-342900">
                  <a:buAutoNum type="alphaLcParenBoth"/>
                </a:pPr>
                <a:r>
                  <a:rPr lang="fr-CA" dirty="0"/>
                  <a:t>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&gt;110</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&lt;110</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𝑂𝑛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110,75,10</m:t>
                        </m:r>
                      </m:e>
                    </m:d>
                    <m:r>
                      <a:rPr lang="fr-CA" b="0" i="1" smtClean="0">
                        <a:latin typeface="Cambria Math" panose="02040503050406030204" pitchFamily="18" charset="0"/>
                        <a:ea typeface="Cambria Math" panose="02040503050406030204" pitchFamily="18" charset="0"/>
                      </a:rPr>
                      <m:t>=0,00023=0,023%</m:t>
                    </m:r>
                  </m:oMath>
                </a14:m>
                <a:endParaRPr lang="fr-CA" dirty="0"/>
              </a:p>
            </p:txBody>
          </p:sp>
        </mc:Choice>
        <mc:Fallback xmlns="">
          <p:sp>
            <p:nvSpPr>
              <p:cNvPr id="5" name="ZoneTexte 4">
                <a:extLst>
                  <a:ext uri="{FF2B5EF4-FFF2-40B4-BE49-F238E27FC236}">
                    <a16:creationId xmlns:a16="http://schemas.microsoft.com/office/drawing/2014/main" id="{B44535A4-F262-4EBF-894E-CA1321918027}"/>
                  </a:ext>
                </a:extLst>
              </p:cNvPr>
              <p:cNvSpPr txBox="1">
                <a:spLocks noRot="1" noChangeAspect="1" noMove="1" noResize="1" noEditPoints="1" noAdjustHandles="1" noChangeArrowheads="1" noChangeShapeType="1" noTextEdit="1"/>
              </p:cNvSpPr>
              <p:nvPr/>
            </p:nvSpPr>
            <p:spPr>
              <a:xfrm>
                <a:off x="838200" y="3030583"/>
                <a:ext cx="11062063" cy="923330"/>
              </a:xfrm>
              <a:prstGeom prst="rect">
                <a:avLst/>
              </a:prstGeom>
              <a:blipFill>
                <a:blip r:embed="rId2"/>
                <a:stretch>
                  <a:fillRect l="-496" t="-3289" b="-9211"/>
                </a:stretch>
              </a:blipFill>
            </p:spPr>
            <p:txBody>
              <a:bodyPr/>
              <a:lstStyle/>
              <a:p>
                <a:r>
                  <a:rPr lang="fr-CA">
                    <a:noFill/>
                  </a:rPr>
                  <a:t> </a:t>
                </a:r>
              </a:p>
            </p:txBody>
          </p:sp>
        </mc:Fallback>
      </mc:AlternateContent>
    </p:spTree>
    <p:extLst>
      <p:ext uri="{BB962C8B-B14F-4D97-AF65-F5344CB8AC3E}">
        <p14:creationId xmlns:p14="http://schemas.microsoft.com/office/powerpoint/2010/main" val="1236720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6E1415-EEFE-4F4A-B344-EE49DB37F48C}"/>
              </a:ext>
            </a:extLst>
          </p:cNvPr>
          <p:cNvSpPr>
            <a:spLocks noGrp="1"/>
          </p:cNvSpPr>
          <p:nvPr>
            <p:ph type="title"/>
          </p:nvPr>
        </p:nvSpPr>
        <p:spPr>
          <a:xfrm>
            <a:off x="838200" y="365125"/>
            <a:ext cx="10515600" cy="1960064"/>
          </a:xfrm>
        </p:spPr>
        <p:txBody>
          <a:bodyPr>
            <a:normAutofit/>
          </a:bodyPr>
          <a:lstStyle/>
          <a:p>
            <a:r>
              <a:rPr lang="fr-CA" dirty="0"/>
              <a:t>Exemple 5: </a:t>
            </a:r>
            <a:r>
              <a:rPr lang="fr-FR" sz="1800" dirty="0">
                <a:solidFill>
                  <a:srgbClr val="000000"/>
                </a:solidFill>
                <a:effectLst/>
                <a:latin typeface="Times New Roman" panose="02020603050405020304" pitchFamily="18" charset="0"/>
                <a:ea typeface="Times New Roman" panose="02020603050405020304" pitchFamily="18" charset="0"/>
              </a:rPr>
              <a:t>Le poids à la naissance des bébés dans une certaine population est normalement distribué avec une moyenne de 3200 g. Si 90 % des bébés de cette population pèsent moins de 3750 g à la naissance, déterminez l’écart-type de cette variable.</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D6768CAB-9FE0-4F3E-9A53-455C69694D5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DF323CE-DC06-4735-A7D3-7EBF86EF5378}"/>
              </a:ext>
            </a:extLst>
          </p:cNvPr>
          <p:cNvSpPr>
            <a:spLocks noGrp="1"/>
          </p:cNvSpPr>
          <p:nvPr>
            <p:ph type="sldNum" sz="quarter" idx="12"/>
          </p:nvPr>
        </p:nvSpPr>
        <p:spPr/>
        <p:txBody>
          <a:bodyPr/>
          <a:lstStyle/>
          <a:p>
            <a:fld id="{26377AD9-CE17-438C-A638-C64D2D42D7CF}" type="slidenum">
              <a:rPr lang="fr-CA" smtClean="0"/>
              <a:t>15</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D9CB471-9E92-40F8-9562-9B4EC88F31EE}"/>
                  </a:ext>
                </a:extLst>
              </p:cNvPr>
              <p:cNvSpPr txBox="1"/>
              <p:nvPr/>
            </p:nvSpPr>
            <p:spPr>
              <a:xfrm>
                <a:off x="1071154" y="2076994"/>
                <a:ext cx="9914709" cy="2252604"/>
              </a:xfrm>
              <a:prstGeom prst="rect">
                <a:avLst/>
              </a:prstGeom>
              <a:noFill/>
            </p:spPr>
            <p:txBody>
              <a:bodyPr wrap="square" rtlCol="0">
                <a:spAutoFit/>
              </a:bodyPr>
              <a:lstStyle/>
              <a:p>
                <a:r>
                  <a:rPr lang="fr-CA" dirty="0"/>
                  <a:t>Soit X, le poids des bébés à la naissance.</a:t>
                </a:r>
              </a:p>
              <a:p>
                <a:endParaRPr lang="fr-CA" dirty="0"/>
              </a:p>
              <a:p>
                <a:r>
                  <a:rPr lang="fr-CA" dirty="0"/>
                  <a:t>On sait que </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&lt;3750</m:t>
                          </m:r>
                        </m:e>
                      </m:d>
                      <m:r>
                        <a:rPr lang="fr-CA" b="0" i="1" smtClean="0">
                          <a:latin typeface="Cambria Math" panose="02040503050406030204" pitchFamily="18" charset="0"/>
                          <a:ea typeface="Cambria Math" panose="02040503050406030204" pitchFamily="18" charset="0"/>
                        </a:rPr>
                        <m:t>=0,90→</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−3200</m:t>
                              </m:r>
                            </m:num>
                            <m:den>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ea typeface="Cambria Math" panose="02040503050406030204" pitchFamily="18" charset="0"/>
                                    </a:rPr>
                                    <m:t>𝑋</m:t>
                                  </m:r>
                                </m:sub>
                              </m:sSub>
                            </m:den>
                          </m:f>
                          <m:r>
                            <a:rPr lang="fr-CA" b="0" i="1" smtClean="0">
                              <a:latin typeface="Cambria Math" panose="02040503050406030204" pitchFamily="18" charset="0"/>
                              <a:ea typeface="Cambria Math" panose="02040503050406030204" pitchFamily="18" charset="0"/>
                            </a:rPr>
                            <m:t>&lt;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3750−3200</m:t>
                              </m:r>
                            </m:num>
                            <m:den>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ea typeface="Cambria Math" panose="02040503050406030204" pitchFamily="18" charset="0"/>
                                    </a:rPr>
                                    <m:t>𝑋</m:t>
                                  </m:r>
                                </m:sub>
                              </m:sSub>
                            </m:den>
                          </m:f>
                        </m:e>
                      </m:d>
                      <m:r>
                        <a:rPr lang="fr-CA" b="0" i="1" smtClean="0">
                          <a:latin typeface="Cambria Math" panose="02040503050406030204" pitchFamily="18" charset="0"/>
                          <a:ea typeface="Cambria Math" panose="02040503050406030204" pitchFamily="18" charset="0"/>
                        </a:rPr>
                        <m:t>=0,90=</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𝑏</m:t>
                      </m:r>
                      <m:r>
                        <a:rPr lang="fr-CA" b="0" i="1" smtClean="0">
                          <a:latin typeface="Cambria Math" panose="02040503050406030204" pitchFamily="18" charset="0"/>
                          <a:ea typeface="Cambria Math" panose="02040503050406030204" pitchFamily="18" charset="0"/>
                        </a:rPr>
                        <m:t>)</m:t>
                      </m:r>
                    </m:oMath>
                  </m:oMathPara>
                </a14:m>
                <a:endParaRPr lang="fr-CA" dirty="0"/>
              </a:p>
              <a:p>
                <a:endParaRPr lang="fr-CA" dirty="0"/>
              </a:p>
              <a:p>
                <a:r>
                  <a:rPr lang="fr-CA" dirty="0"/>
                  <a:t>On tape:   </a:t>
                </a:r>
                <a14:m>
                  <m:oMath xmlns:m="http://schemas.openxmlformats.org/officeDocument/2006/math">
                    <m:r>
                      <a:rPr lang="fr-CA" b="0" i="1" smtClean="0">
                        <a:latin typeface="Cambria Math" panose="02040503050406030204" pitchFamily="18" charset="0"/>
                      </a:rPr>
                      <m:t>𝑞𝑛𝑜𝑟𝑚</m:t>
                    </m:r>
                    <m:d>
                      <m:dPr>
                        <m:ctrlPr>
                          <a:rPr lang="fr-CA" b="0" i="1" smtClean="0">
                            <a:latin typeface="Cambria Math" panose="02040503050406030204" pitchFamily="18" charset="0"/>
                          </a:rPr>
                        </m:ctrlPr>
                      </m:dPr>
                      <m:e>
                        <m:r>
                          <a:rPr lang="fr-CA" b="0" i="1" smtClean="0">
                            <a:latin typeface="Cambria Math" panose="02040503050406030204" pitchFamily="18" charset="0"/>
                          </a:rPr>
                          <m:t>0.9,0,1</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𝑏</m:t>
                    </m:r>
                    <m:r>
                      <a:rPr lang="fr-CA" b="0" i="1" smtClean="0">
                        <a:latin typeface="Cambria Math" panose="02040503050406030204" pitchFamily="18" charset="0"/>
                        <a:ea typeface="Cambria Math" panose="02040503050406030204" pitchFamily="18" charset="0"/>
                      </a:rPr>
                      <m:t>=</m:t>
                    </m:r>
                  </m:oMath>
                </a14:m>
                <a:r>
                  <a:rPr lang="fr-CA" dirty="0">
                    <a:ea typeface="Cambria Math" panose="02040503050406030204" pitchFamily="18" charset="0"/>
                  </a:rPr>
                  <a:t> </a:t>
                </a:r>
                <a14:m>
                  <m:oMath xmlns:m="http://schemas.openxmlformats.org/officeDocument/2006/math">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3750−3200</m:t>
                        </m:r>
                      </m:num>
                      <m:den>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𝑋</m:t>
                            </m:r>
                          </m:sub>
                        </m:sSub>
                      </m:den>
                    </m:f>
                    <m:r>
                      <a:rPr lang="fr-CA" b="0" i="1" smtClean="0">
                        <a:latin typeface="Cambria Math" panose="02040503050406030204" pitchFamily="18" charset="0"/>
                        <a:ea typeface="Cambria Math" panose="02040503050406030204" pitchFamily="18" charset="0"/>
                      </a:rPr>
                      <m:t>=1,281552→</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𝑋</m:t>
                        </m:r>
                      </m:sub>
                    </m:sSub>
                    <m:r>
                      <a:rPr lang="fr-CA" b="0" i="0"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3750−3200</m:t>
                        </m:r>
                      </m:num>
                      <m:den>
                        <m:r>
                          <a:rPr lang="fr-CA" b="0" i="1" smtClean="0">
                            <a:latin typeface="Cambria Math" panose="02040503050406030204" pitchFamily="18" charset="0"/>
                            <a:ea typeface="Cambria Math" panose="02040503050406030204" pitchFamily="18" charset="0"/>
                          </a:rPr>
                          <m:t>1,281552</m:t>
                        </m:r>
                      </m:den>
                    </m:f>
                    <m:r>
                      <a:rPr lang="fr-CA" b="0" i="1" smtClean="0">
                        <a:latin typeface="Cambria Math" panose="02040503050406030204" pitchFamily="18" charset="0"/>
                        <a:ea typeface="Cambria Math" panose="02040503050406030204" pitchFamily="18" charset="0"/>
                      </a:rPr>
                      <m:t>=429,17 </m:t>
                    </m:r>
                    <m:r>
                      <a:rPr lang="fr-CA" b="0" i="1" smtClean="0">
                        <a:latin typeface="Cambria Math" panose="02040503050406030204" pitchFamily="18" charset="0"/>
                        <a:ea typeface="Cambria Math" panose="02040503050406030204" pitchFamily="18" charset="0"/>
                      </a:rPr>
                      <m:t>𝑔</m:t>
                    </m:r>
                  </m:oMath>
                </a14:m>
                <a:endParaRPr lang="fr-CA" dirty="0"/>
              </a:p>
            </p:txBody>
          </p:sp>
        </mc:Choice>
        <mc:Fallback xmlns="">
          <p:sp>
            <p:nvSpPr>
              <p:cNvPr id="5" name="ZoneTexte 4">
                <a:extLst>
                  <a:ext uri="{FF2B5EF4-FFF2-40B4-BE49-F238E27FC236}">
                    <a16:creationId xmlns:a16="http://schemas.microsoft.com/office/drawing/2014/main" id="{0D9CB471-9E92-40F8-9562-9B4EC88F31EE}"/>
                  </a:ext>
                </a:extLst>
              </p:cNvPr>
              <p:cNvSpPr txBox="1">
                <a:spLocks noRot="1" noChangeAspect="1" noMove="1" noResize="1" noEditPoints="1" noAdjustHandles="1" noChangeArrowheads="1" noChangeShapeType="1" noTextEdit="1"/>
              </p:cNvSpPr>
              <p:nvPr/>
            </p:nvSpPr>
            <p:spPr>
              <a:xfrm>
                <a:off x="1071154" y="2076994"/>
                <a:ext cx="9914709" cy="2252604"/>
              </a:xfrm>
              <a:prstGeom prst="rect">
                <a:avLst/>
              </a:prstGeom>
              <a:blipFill>
                <a:blip r:embed="rId2"/>
                <a:stretch>
                  <a:fillRect l="-554" t="-1626"/>
                </a:stretch>
              </a:blipFill>
            </p:spPr>
            <p:txBody>
              <a:bodyPr/>
              <a:lstStyle/>
              <a:p>
                <a:r>
                  <a:rPr lang="fr-CA">
                    <a:noFill/>
                  </a:rPr>
                  <a:t> </a:t>
                </a:r>
              </a:p>
            </p:txBody>
          </p:sp>
        </mc:Fallback>
      </mc:AlternateContent>
    </p:spTree>
    <p:extLst>
      <p:ext uri="{BB962C8B-B14F-4D97-AF65-F5344CB8AC3E}">
        <p14:creationId xmlns:p14="http://schemas.microsoft.com/office/powerpoint/2010/main" val="2644385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47E75A-FC8D-43D3-9D2E-619AAB11106D}"/>
              </a:ext>
            </a:extLst>
          </p:cNvPr>
          <p:cNvSpPr>
            <a:spLocks noGrp="1"/>
          </p:cNvSpPr>
          <p:nvPr>
            <p:ph type="title"/>
          </p:nvPr>
        </p:nvSpPr>
        <p:spPr>
          <a:xfrm>
            <a:off x="838200" y="365125"/>
            <a:ext cx="10515600" cy="1933938"/>
          </a:xfrm>
        </p:spPr>
        <p:txBody>
          <a:bodyPr/>
          <a:lstStyle/>
          <a:p>
            <a:r>
              <a:rPr lang="fr-CA" dirty="0"/>
              <a:t>Exemple 6: </a:t>
            </a:r>
            <a:r>
              <a:rPr lang="fr-CA" sz="1800" dirty="0">
                <a:effectLst/>
                <a:latin typeface="Calibri" panose="020F0502020204030204" pitchFamily="34" charset="0"/>
                <a:ea typeface="Calibri" panose="020F0502020204030204" pitchFamily="34" charset="0"/>
                <a:cs typeface="Times New Roman" panose="02020603050405020304" pitchFamily="18" charset="0"/>
              </a:rPr>
              <a:t>Dans une certaine rue, la durée de vie des lampadaires est distribuée normalement avec une moyenne de 80 mois et une variance de 800. Si on y sélectionne 15 lampadaires au hasard, quelle est la probabilité que seuls 3 d’entre eux durent plus de 9 ans ?</a:t>
            </a:r>
            <a:endParaRPr lang="fr-CA" dirty="0"/>
          </a:p>
        </p:txBody>
      </p:sp>
      <p:sp>
        <p:nvSpPr>
          <p:cNvPr id="3" name="Espace réservé du pied de page 2">
            <a:extLst>
              <a:ext uri="{FF2B5EF4-FFF2-40B4-BE49-F238E27FC236}">
                <a16:creationId xmlns:a16="http://schemas.microsoft.com/office/drawing/2014/main" id="{110EBB50-1A20-4C07-929C-46F67D1A7C3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3700992-A6F9-4C8D-A703-AAD282940F19}"/>
              </a:ext>
            </a:extLst>
          </p:cNvPr>
          <p:cNvSpPr>
            <a:spLocks noGrp="1"/>
          </p:cNvSpPr>
          <p:nvPr>
            <p:ph type="sldNum" sz="quarter" idx="12"/>
          </p:nvPr>
        </p:nvSpPr>
        <p:spPr/>
        <p:txBody>
          <a:bodyPr/>
          <a:lstStyle/>
          <a:p>
            <a:fld id="{26377AD9-CE17-438C-A638-C64D2D42D7CF}" type="slidenum">
              <a:rPr lang="fr-CA" smtClean="0"/>
              <a:t>16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217CF70C-49D3-4932-A190-BEE3D093971A}"/>
                  </a:ext>
                </a:extLst>
              </p:cNvPr>
              <p:cNvSpPr txBox="1"/>
              <p:nvPr/>
            </p:nvSpPr>
            <p:spPr>
              <a:xfrm>
                <a:off x="1201783" y="2429691"/>
                <a:ext cx="10152017" cy="3451971"/>
              </a:xfrm>
              <a:prstGeom prst="rect">
                <a:avLst/>
              </a:prstGeom>
              <a:noFill/>
            </p:spPr>
            <p:txBody>
              <a:bodyPr wrap="square" rtlCol="0">
                <a:spAutoFit/>
              </a:bodyPr>
              <a:lstStyle/>
              <a:p>
                <a:r>
                  <a:rPr lang="fr-CA" dirty="0"/>
                  <a:t>Soit X: la durée de vie d’un lampadaire choisit au hasard.</a:t>
                </a:r>
              </a:p>
              <a:p>
                <a:endParaRPr lang="fr-CA" dirty="0"/>
              </a:p>
              <a:p>
                <a:r>
                  <a:rPr lang="fr-CA" dirty="0"/>
                  <a:t>On va d’abord calculer la probabilité que sa vie dépasse 9 ans (probabilité d’avoir un succès)</a:t>
                </a:r>
              </a:p>
              <a:p>
                <a:endParaRPr lang="fr-CA"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𝑝</m:t>
                    </m:r>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&gt;108</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𝑋</m:t>
                        </m:r>
                        <m:r>
                          <a:rPr lang="fr-CA" b="0" i="1" smtClean="0">
                            <a:latin typeface="Cambria Math" panose="02040503050406030204" pitchFamily="18" charset="0"/>
                            <a:ea typeface="Cambria Math" panose="02040503050406030204" pitchFamily="18" charset="0"/>
                          </a:rPr>
                          <m:t>&lt;108</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𝑂𝑛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108,80,</m:t>
                        </m:r>
                        <m:r>
                          <a:rPr lang="fr-CA" b="0" i="1" smtClean="0">
                            <a:latin typeface="Cambria Math" panose="02040503050406030204" pitchFamily="18" charset="0"/>
                            <a:ea typeface="Cambria Math" panose="02040503050406030204" pitchFamily="18" charset="0"/>
                          </a:rPr>
                          <m:t>𝑠𝑞𝑟𝑡</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800</m:t>
                            </m:r>
                          </m:e>
                        </m:d>
                      </m:e>
                    </m:d>
                    <m:r>
                      <a:rPr lang="fr-CA" b="0" i="1" smtClean="0">
                        <a:latin typeface="Cambria Math" panose="02040503050406030204" pitchFamily="18" charset="0"/>
                        <a:ea typeface="Cambria Math" panose="02040503050406030204" pitchFamily="18" charset="0"/>
                      </a:rPr>
                      <m:t>𝑐𝑒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𝑑𝑜𝑛𝑛𝑒</m:t>
                    </m:r>
                    <m:r>
                      <a:rPr lang="fr-CA" b="0" i="1" smtClean="0">
                        <a:latin typeface="Cambria Math" panose="02040503050406030204" pitchFamily="18" charset="0"/>
                        <a:ea typeface="Cambria Math" panose="02040503050406030204" pitchFamily="18" charset="0"/>
                      </a:rPr>
                      <m:t>:</m:t>
                    </m:r>
                  </m:oMath>
                </a14:m>
                <a:endParaRPr lang="fr-CA" b="0" dirty="0">
                  <a:ea typeface="Cambria Math" panose="02040503050406030204" pitchFamily="18" charset="0"/>
                </a:endParaRPr>
              </a:p>
              <a:p>
                <a:r>
                  <a:rPr lang="fr-CA" dirty="0"/>
                  <a:t>   </a:t>
                </a:r>
                <a14:m>
                  <m:oMath xmlns:m="http://schemas.openxmlformats.org/officeDocument/2006/math">
                    <m:r>
                      <a:rPr lang="fr-CA" b="0" i="1" smtClean="0">
                        <a:latin typeface="Cambria Math" panose="02040503050406030204" pitchFamily="18" charset="0"/>
                      </a:rPr>
                      <m:t>𝑝</m:t>
                    </m:r>
                    <m:r>
                      <a:rPr lang="fr-CA" b="0" i="1" smtClean="0">
                        <a:latin typeface="Cambria Math" panose="02040503050406030204" pitchFamily="18" charset="0"/>
                      </a:rPr>
                      <m:t>=0,1611</m:t>
                    </m:r>
                  </m:oMath>
                </a14:m>
                <a:r>
                  <a:rPr lang="fr-CA" dirty="0"/>
                  <a:t> (elle reste constante).</a:t>
                </a:r>
              </a:p>
              <a:p>
                <a:endParaRPr lang="fr-CA" dirty="0"/>
              </a:p>
              <a:p>
                <a:r>
                  <a:rPr lang="fr-CA" dirty="0"/>
                  <a:t>On a choisit n=15 lampadaires au hasard.  On s’intéresse  à </a:t>
                </a:r>
              </a:p>
              <a:p>
                <a:r>
                  <a:rPr lang="fr-CA" dirty="0"/>
                  <a:t>Y: le nombre de succès parmi les 15 répétitions, donc Y est une variable binomiale de paramètres n=15 et p=0,1611.</a:t>
                </a:r>
              </a:p>
              <a:p>
                <a:endParaRPr lang="fr-CA" dirty="0"/>
              </a:p>
              <a:p>
                <a:r>
                  <a:rPr lang="fr-CA" dirty="0"/>
                  <a:t>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𝑌</m:t>
                        </m:r>
                        <m:r>
                          <a:rPr lang="fr-CA" b="0" i="1" smtClean="0">
                            <a:latin typeface="Cambria Math" panose="02040503050406030204" pitchFamily="18" charset="0"/>
                          </a:rPr>
                          <m:t>=3</m:t>
                        </m:r>
                      </m:e>
                    </m:d>
                    <m:r>
                      <a:rPr lang="fr-CA" b="0" i="1" smtClean="0">
                        <a:latin typeface="Cambria Math" panose="02040503050406030204" pitchFamily="18" charset="0"/>
                      </a:rPr>
                      <m:t> </m:t>
                    </m:r>
                    <m:r>
                      <a:rPr lang="fr-CA" b="0" i="1" smtClean="0">
                        <a:latin typeface="Cambria Math" panose="02040503050406030204" pitchFamily="18" charset="0"/>
                      </a:rPr>
                      <m:t>𝑂𝑛</m:t>
                    </m:r>
                    <m:r>
                      <a:rPr lang="fr-CA" b="0" i="1" smtClean="0">
                        <a:latin typeface="Cambria Math" panose="02040503050406030204" pitchFamily="18" charset="0"/>
                      </a:rPr>
                      <m:t> </m:t>
                    </m:r>
                    <m:r>
                      <a:rPr lang="fr-CA" b="0" i="1" smtClean="0">
                        <a:latin typeface="Cambria Math" panose="02040503050406030204" pitchFamily="18" charset="0"/>
                      </a:rPr>
                      <m:t>𝑡𝑎𝑝𝑒</m:t>
                    </m:r>
                    <m:r>
                      <a:rPr lang="fr-CA" b="0" i="1" smtClean="0">
                        <a:latin typeface="Cambria Math" panose="02040503050406030204" pitchFamily="18" charset="0"/>
                      </a:rPr>
                      <m:t> </m:t>
                    </m:r>
                    <m:r>
                      <a:rPr lang="fr-CA" b="0" i="1" smtClean="0">
                        <a:latin typeface="Cambria Math" panose="02040503050406030204" pitchFamily="18" charset="0"/>
                      </a:rPr>
                      <m:t>𝑑𝑏𝑖𝑛𝑜𝑚</m:t>
                    </m:r>
                    <m:d>
                      <m:dPr>
                        <m:ctrlPr>
                          <a:rPr lang="fr-CA" b="0" i="1" smtClean="0">
                            <a:latin typeface="Cambria Math" panose="02040503050406030204" pitchFamily="18" charset="0"/>
                          </a:rPr>
                        </m:ctrlPr>
                      </m:dPr>
                      <m:e>
                        <m:r>
                          <a:rPr lang="fr-CA" b="0" i="1" smtClean="0">
                            <a:latin typeface="Cambria Math" panose="02040503050406030204" pitchFamily="18" charset="0"/>
                          </a:rPr>
                          <m:t>3,15,0.1611</m:t>
                        </m:r>
                      </m:e>
                    </m:d>
                    <m:r>
                      <a:rPr lang="fr-CA" b="0" i="1" smtClean="0">
                        <a:latin typeface="Cambria Math" panose="02040503050406030204" pitchFamily="18" charset="0"/>
                      </a:rPr>
                      <m:t>  </m:t>
                    </m:r>
                    <m:r>
                      <a:rPr lang="fr-CA" b="0" i="1" smtClean="0">
                        <a:latin typeface="Cambria Math" panose="02040503050406030204" pitchFamily="18" charset="0"/>
                      </a:rPr>
                      <m:t>𝑐𝑒</m:t>
                    </m:r>
                    <m:r>
                      <a:rPr lang="fr-CA" b="0" i="1" smtClean="0">
                        <a:latin typeface="Cambria Math" panose="02040503050406030204" pitchFamily="18" charset="0"/>
                      </a:rPr>
                      <m:t> </m:t>
                    </m:r>
                    <m:r>
                      <a:rPr lang="fr-CA" b="0" i="1" smtClean="0">
                        <a:latin typeface="Cambria Math" panose="02040503050406030204" pitchFamily="18" charset="0"/>
                      </a:rPr>
                      <m:t>𝑞𝑢𝑖</m:t>
                    </m:r>
                    <m:r>
                      <a:rPr lang="fr-CA" b="0" i="1" smtClean="0">
                        <a:latin typeface="Cambria Math" panose="02040503050406030204" pitchFamily="18" charset="0"/>
                      </a:rPr>
                      <m:t> </m:t>
                    </m:r>
                    <m:r>
                      <a:rPr lang="fr-CA" b="0" i="1" smtClean="0">
                        <a:latin typeface="Cambria Math" panose="02040503050406030204" pitchFamily="18" charset="0"/>
                      </a:rPr>
                      <m:t>𝑑𝑜𝑛𝑛𝑒</m:t>
                    </m:r>
                    <m:r>
                      <a:rPr lang="fr-CA" b="0" i="1" smtClean="0">
                        <a:latin typeface="Cambria Math" panose="02040503050406030204" pitchFamily="18" charset="0"/>
                      </a:rPr>
                      <m:t>:0,2311</m:t>
                    </m:r>
                  </m:oMath>
                </a14:m>
                <a:endParaRPr lang="fr-CA" dirty="0"/>
              </a:p>
            </p:txBody>
          </p:sp>
        </mc:Choice>
        <mc:Fallback xmlns="">
          <p:sp>
            <p:nvSpPr>
              <p:cNvPr id="5" name="ZoneTexte 4">
                <a:extLst>
                  <a:ext uri="{FF2B5EF4-FFF2-40B4-BE49-F238E27FC236}">
                    <a16:creationId xmlns:a16="http://schemas.microsoft.com/office/drawing/2014/main" id="{217CF70C-49D3-4932-A190-BEE3D093971A}"/>
                  </a:ext>
                </a:extLst>
              </p:cNvPr>
              <p:cNvSpPr txBox="1">
                <a:spLocks noRot="1" noChangeAspect="1" noMove="1" noResize="1" noEditPoints="1" noAdjustHandles="1" noChangeArrowheads="1" noChangeShapeType="1" noTextEdit="1"/>
              </p:cNvSpPr>
              <p:nvPr/>
            </p:nvSpPr>
            <p:spPr>
              <a:xfrm>
                <a:off x="1201783" y="2429691"/>
                <a:ext cx="10152017" cy="3451971"/>
              </a:xfrm>
              <a:prstGeom prst="rect">
                <a:avLst/>
              </a:prstGeom>
              <a:blipFill>
                <a:blip r:embed="rId2"/>
                <a:stretch>
                  <a:fillRect l="-480" t="-1060" b="-1943"/>
                </a:stretch>
              </a:blipFill>
            </p:spPr>
            <p:txBody>
              <a:bodyPr/>
              <a:lstStyle/>
              <a:p>
                <a:r>
                  <a:rPr lang="fr-CA">
                    <a:noFill/>
                  </a:rPr>
                  <a:t> </a:t>
                </a:r>
              </a:p>
            </p:txBody>
          </p:sp>
        </mc:Fallback>
      </mc:AlternateContent>
    </p:spTree>
    <p:extLst>
      <p:ext uri="{BB962C8B-B14F-4D97-AF65-F5344CB8AC3E}">
        <p14:creationId xmlns:p14="http://schemas.microsoft.com/office/powerpoint/2010/main" val="2699371710"/>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354</TotalTime>
  <Words>2085</Words>
  <Application>Microsoft Office PowerPoint</Application>
  <PresentationFormat>Widescreen</PresentationFormat>
  <Paragraphs>133</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Cambria Math</vt:lpstr>
      <vt:lpstr>HelveticaNeueLT Std Cn</vt:lpstr>
      <vt:lpstr>Symbol (T1) Medium</vt:lpstr>
      <vt:lpstr>Times New Roman</vt:lpstr>
      <vt:lpstr>Office Theme</vt:lpstr>
      <vt:lpstr>Les variables aléatoires continues usuelles</vt:lpstr>
      <vt:lpstr>Exemple 1: Chaque matin, vous arrivez à 8 h à votre arrêt d’autobus. L’heure de passage de l’autobus suit une loi uniformément distribuée entre 8 h et 8 h 30. a) Quelle est la probabilité que l’autobus passe entre 8 h 10 et 8 h 15 une journée donnée ? b) Sachant que vous attendez l’autobus depuis 10 minutes, quelle est la probabilité qu’il vous reste moins de 8 minutes à attendre ? </vt:lpstr>
      <vt:lpstr>Exemple 2: Un point est choisi au hasard sur un segment de longueur L et le divise en deux. Déterminez la probabilité que le rapport entre le plus grand et le plus petit segment obtenu soit inférieur à 4. </vt:lpstr>
      <vt:lpstr>II. La loi exponentielle: La loi exponentielle est une variable aléatoire continue étroitement liée à la variable de Poisson qui, elle, est discrète</vt:lpstr>
      <vt:lpstr>REMARQUE La loi exponentielle est d’une grande importance pour les étudiants en génie électrique, informatique ou civil, car elle est couramment utilisée dans l’étude de la fatigue des instruments et dans la modélisation de la durée de vie de tout système avec partage de ressources. </vt:lpstr>
      <vt:lpstr>Exemple 2: Dans une certaine région, les accidents d’avion se produisent selon un processus de Poisson de moyenne λ = 2,5 accidents par année. a) Quelle est la probabilité que, durant une année, on observe au moins trois accidents d’avion dans cette région ? b) Quelle est la probabilité que le temps qui séparera les deux prochains accidents d’avion dans cette région soit inférieur à quatre mois ? c) Sachant qu’aucun accident n’a lieu durant les premiers 2 mois de l’année, quelle est la probabilité qu’aucun accident ne se produise durant les 4 premier mois ? </vt:lpstr>
      <vt:lpstr>La Loi normale centrée et réduite</vt:lpstr>
      <vt:lpstr>La loi normale générale </vt:lpstr>
      <vt:lpstr>Théorème: Si X~N(μ_X; σ_X^2)  alors la variable Z=(X-μ_X)/σ_X        devient N(0;1) On dit qu’on a standardisé la variable X et alors on peut utiliser les tables des pages 333-334.</vt:lpstr>
      <vt:lpstr>Exemples: Soit X~N(70;36) donc la moyenne de X est 70 et son écart type est égal à 6.</vt:lpstr>
      <vt:lpstr>Exemple 1:  Dans une certaine population, le quotient intellectuel est normalement distribué avec une moyenne de 125 et un écart-type de 15. a) Déterminez le pourcentage de cette population dont le quotient intellectuel est compris entre 110 et 160. b) Une secte, qui recrute ses membres dans cette population, prétend qu’elle les choisit parmi les 5 % ayant le quotient intellectuel le plus élevé. Si cette prétention est vraie, quel est le quotient intellectuel minimum requis pour faire partie de cette secte ? </vt:lpstr>
      <vt:lpstr>Exemple 2: Chez les diabétiques, le taux de glucose sanguin X est approximativement distribué normalement avec une moyenne de 105 mg/100 mL et un écart-type de 9 mg/100 mL. a) Déterminez P(X &gt; 125 mg/100 mL). b) Quel est le pourcentage des diabétiques dont le taux de glucose sanguin est compris entre 95 mg/100 mL et 130 mg/100 mL ? c) Déterminez k telle que P(X &gt; k) = 0,20. </vt:lpstr>
      <vt:lpstr>Exemple 3:  Supposez que la taille d’un pygmée âgé de 25 ans soit distribuée normalement avec une moyenne de 140 cm et un écart-type de 7 cm. a) Quel est le pourcentage des pygmées de cet âge dont la taille est comprise entre 130 cm et 160 cm ? b) Parmi les pygmées de 25 ans qui mesurent plus de 146 cm, quel est le pourcentage de ceux qui dépassent 155 cm ? </vt:lpstr>
      <vt:lpstr>Exemple4: Un radar est en fonction sur une route dont la limite de vitesse est 80 km/h. a) En supposant que la vitesse des voitures soit normalement distribuée avec une moyenne de 75 km/h et un écart-type de 10 km/h, quel est le pourcentage des conducteurs qui écoperont d’une amende si le radar ne tolère pas une vitesse supérieure à 88 km/h ? b) Sachant qu’en plus de l’amende, un excès de vitesse de 30 km/h entraîne le retrait du permis de conduire, quel est le pourcentage des conducteurs qui subiront les deux types de sanctions ? </vt:lpstr>
      <vt:lpstr>Exemple 5: Le poids à la naissance des bébés dans une certaine population est normalement distribué avec une moyenne de 3200 g. Si 90 % des bébés de cette population pèsent moins de 3750 g à la naissance, déterminez l’écart-type de cette variable. </vt:lpstr>
      <vt:lpstr>Exemple 6: Dans une certaine rue, la durée de vie des lampadaires est distribuée normalement avec une moyenne de 80 mois et une variance de 800. Si on y sélectionne 15 lampadaires au hasard, quelle est la probabilité que seuls 3 d’entre eux durent plus de 9 ans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variables aléatoires continues</dc:title>
  <dc:creator>Mhammed Mountassir</dc:creator>
  <cp:lastModifiedBy>M'Hammed Mountassir</cp:lastModifiedBy>
  <cp:revision>33</cp:revision>
  <dcterms:created xsi:type="dcterms:W3CDTF">2020-09-30T12:25:50Z</dcterms:created>
  <dcterms:modified xsi:type="dcterms:W3CDTF">2026-02-05T12:38:14Z</dcterms:modified>
</cp:coreProperties>
</file>